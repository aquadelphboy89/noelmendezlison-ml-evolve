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" roundtripDataSignature="AMtx7mh5XqsNf9leuH5XP2JfiWPjGkMw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ED45D5-DC09-456F-AE02-C4CA62B35E15}" v="160" dt="2026-06-07T20:58:04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customschemas.google.com/relationships/presentationmetadata" Target="metadata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ctrTitle"/>
          </p:nvPr>
        </p:nvSpPr>
        <p:spPr>
          <a:xfrm>
            <a:off x="311708" y="994799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dirty="0">
                <a:solidFill>
                  <a:schemeClr val="tx1"/>
                </a:solidFill>
              </a:rPr>
              <a:t>Modelo de </a:t>
            </a:r>
            <a:r>
              <a:rPr lang="en" dirty="0" err="1">
                <a:solidFill>
                  <a:schemeClr val="tx1"/>
                </a:solidFill>
              </a:rPr>
              <a:t>Fidelización</a:t>
            </a:r>
            <a:r>
              <a:rPr lang="en" dirty="0">
                <a:solidFill>
                  <a:schemeClr val="tx1"/>
                </a:solidFill>
              </a:rPr>
              <a:t> y </a:t>
            </a:r>
            <a:r>
              <a:rPr lang="en" dirty="0" err="1">
                <a:solidFill>
                  <a:schemeClr val="tx1"/>
                </a:solidFill>
              </a:rPr>
              <a:t>Recompra</a:t>
            </a:r>
            <a:endParaRPr lang="es-ES" dirty="0" err="1">
              <a:solidFill>
                <a:schemeClr val="tx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F90EA42-CC01-7BFA-855A-B43FD262B413}"/>
              </a:ext>
            </a:extLst>
          </p:cNvPr>
          <p:cNvSpPr txBox="1"/>
          <p:nvPr/>
        </p:nvSpPr>
        <p:spPr>
          <a:xfrm>
            <a:off x="3171207" y="3643738"/>
            <a:ext cx="365423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>
                <a:solidFill>
                  <a:srgbClr val="002060"/>
                </a:solidFill>
              </a:rPr>
              <a:t>Noel Méndez Lison</a:t>
            </a:r>
            <a:endParaRPr lang="es-ES" dirty="0">
              <a:solidFill>
                <a:srgbClr val="002060"/>
              </a:solidFill>
            </a:endParaRPr>
          </a:p>
          <a:p>
            <a:r>
              <a:rPr lang="es-ES">
                <a:solidFill>
                  <a:srgbClr val="002060"/>
                </a:solidFill>
              </a:rPr>
              <a:t>07/06/2026</a:t>
            </a:r>
            <a:endParaRPr lang="es-ES" dirty="0">
              <a:solidFill>
                <a:srgbClr val="002060"/>
              </a:solidFill>
            </a:endParaRPr>
          </a:p>
          <a:p>
            <a:r>
              <a:rPr lang="es-ES" dirty="0">
                <a:solidFill>
                  <a:srgbClr val="002060"/>
                </a:solidFill>
              </a:rPr>
              <a:t>Machine </a:t>
            </a:r>
            <a:r>
              <a:rPr lang="es-ES" dirty="0" err="1">
                <a:solidFill>
                  <a:srgbClr val="002060"/>
                </a:solidFill>
              </a:rPr>
              <a:t>learning</a:t>
            </a:r>
            <a:br>
              <a:rPr lang="es-ES" dirty="0">
                <a:solidFill>
                  <a:srgbClr val="002060"/>
                </a:solidFill>
              </a:rPr>
            </a:br>
            <a:r>
              <a:rPr lang="es-ES" dirty="0" err="1">
                <a:solidFill>
                  <a:srgbClr val="002060"/>
                </a:solidFill>
              </a:rPr>
              <a:t>Evolve</a:t>
            </a:r>
            <a:endParaRPr lang="es-E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body" idx="1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" sz="1200" dirty="0"/>
              <a:t>El </a:t>
            </a:r>
            <a:r>
              <a:rPr lang="en" sz="1200" dirty="0" err="1"/>
              <a:t>objetivo</a:t>
            </a:r>
            <a:r>
              <a:rPr lang="en" sz="1200" dirty="0"/>
              <a:t> central de </a:t>
            </a:r>
            <a:r>
              <a:rPr lang="en" sz="1200" dirty="0" err="1"/>
              <a:t>este</a:t>
            </a:r>
            <a:r>
              <a:rPr lang="en" sz="1200" dirty="0"/>
              <a:t> </a:t>
            </a:r>
            <a:r>
              <a:rPr lang="en" sz="1200" dirty="0" err="1"/>
              <a:t>proyecto</a:t>
            </a:r>
            <a:r>
              <a:rPr lang="en" sz="1200" dirty="0"/>
              <a:t> es </a:t>
            </a:r>
            <a:r>
              <a:rPr lang="en" sz="1200" dirty="0" err="1"/>
              <a:t>construir</a:t>
            </a:r>
            <a:r>
              <a:rPr lang="en" sz="1200" dirty="0"/>
              <a:t> un </a:t>
            </a:r>
            <a:r>
              <a:rPr lang="en" sz="1200" dirty="0" err="1"/>
              <a:t>modelo</a:t>
            </a:r>
            <a:r>
              <a:rPr lang="en" sz="1200" dirty="0"/>
              <a:t> </a:t>
            </a:r>
            <a:r>
              <a:rPr lang="en" sz="1200" dirty="0" err="1"/>
              <a:t>predictivo</a:t>
            </a:r>
            <a:r>
              <a:rPr lang="en" sz="1200" dirty="0"/>
              <a:t> </a:t>
            </a:r>
            <a:r>
              <a:rPr lang="en" sz="1200" dirty="0" err="1"/>
              <a:t>capaz</a:t>
            </a:r>
            <a:r>
              <a:rPr lang="en" sz="1200" dirty="0"/>
              <a:t> de </a:t>
            </a:r>
            <a:r>
              <a:rPr lang="en" sz="1200" dirty="0" err="1"/>
              <a:t>calcular</a:t>
            </a:r>
            <a:r>
              <a:rPr lang="en" sz="1200" dirty="0"/>
              <a:t> la </a:t>
            </a:r>
            <a:r>
              <a:rPr lang="en" sz="1200" dirty="0" err="1"/>
              <a:t>probabilidad</a:t>
            </a:r>
            <a:r>
              <a:rPr lang="en" sz="1200" dirty="0"/>
              <a:t> exacta de </a:t>
            </a:r>
            <a:r>
              <a:rPr lang="en" sz="1200" dirty="0" err="1"/>
              <a:t>que</a:t>
            </a:r>
            <a:r>
              <a:rPr lang="en" sz="1200" dirty="0"/>
              <a:t> un </a:t>
            </a:r>
            <a:r>
              <a:rPr lang="en" sz="1200" dirty="0" err="1"/>
              <a:t>cliente</a:t>
            </a:r>
            <a:r>
              <a:rPr lang="en" sz="1200" dirty="0"/>
              <a:t> </a:t>
            </a:r>
            <a:r>
              <a:rPr lang="en" sz="1200" dirty="0" err="1"/>
              <a:t>realice</a:t>
            </a:r>
            <a:r>
              <a:rPr lang="en" sz="1200" dirty="0"/>
              <a:t> </a:t>
            </a:r>
            <a:r>
              <a:rPr lang="en" sz="1200" dirty="0" err="1"/>
              <a:t>una</a:t>
            </a:r>
            <a:r>
              <a:rPr lang="en" sz="1200" dirty="0"/>
              <a:t> </a:t>
            </a:r>
            <a:r>
              <a:rPr lang="en" sz="1200" dirty="0" err="1"/>
              <a:t>nueva</a:t>
            </a:r>
            <a:r>
              <a:rPr lang="en" sz="1200" dirty="0"/>
              <a:t> </a:t>
            </a:r>
            <a:r>
              <a:rPr lang="en" sz="1200" dirty="0" err="1"/>
              <a:t>compra</a:t>
            </a:r>
            <a:r>
              <a:rPr lang="en" sz="1200" dirty="0"/>
              <a:t> </a:t>
            </a:r>
            <a:r>
              <a:rPr lang="en" sz="1200" dirty="0" err="1"/>
              <a:t>en</a:t>
            </a:r>
            <a:r>
              <a:rPr lang="en" sz="1200" dirty="0"/>
              <a:t> la tienda online </a:t>
            </a:r>
            <a:r>
              <a:rPr lang="en" sz="1200" dirty="0" err="1"/>
              <a:t>dentro</a:t>
            </a:r>
            <a:r>
              <a:rPr lang="en" sz="1200" dirty="0"/>
              <a:t> del </a:t>
            </a:r>
            <a:r>
              <a:rPr lang="en" sz="1200" dirty="0" err="1"/>
              <a:t>periodo</a:t>
            </a:r>
            <a:r>
              <a:rPr lang="en" sz="1200" dirty="0"/>
              <a:t> </a:t>
            </a:r>
            <a:r>
              <a:rPr lang="en" sz="1200" dirty="0" err="1"/>
              <a:t>analizado</a:t>
            </a:r>
            <a:r>
              <a:rPr lang="en" sz="1200" dirty="0"/>
              <a:t>. A </a:t>
            </a:r>
            <a:r>
              <a:rPr lang="en" sz="1200" dirty="0" err="1"/>
              <a:t>partir</a:t>
            </a:r>
            <a:r>
              <a:rPr lang="en" sz="1200" dirty="0"/>
              <a:t> de </a:t>
            </a:r>
            <a:r>
              <a:rPr lang="en" sz="1200" dirty="0" err="1"/>
              <a:t>este</a:t>
            </a:r>
            <a:r>
              <a:rPr lang="en" sz="1200" dirty="0"/>
              <a:t> </a:t>
            </a:r>
            <a:r>
              <a:rPr lang="en" sz="1200" dirty="0" err="1"/>
              <a:t>porcentaje</a:t>
            </a:r>
            <a:r>
              <a:rPr lang="en" sz="1200" dirty="0"/>
              <a:t> </a:t>
            </a:r>
            <a:r>
              <a:rPr lang="en" sz="1200" dirty="0" err="1"/>
              <a:t>estimado</a:t>
            </a:r>
            <a:r>
              <a:rPr lang="en" sz="1200" dirty="0"/>
              <a:t> para </a:t>
            </a:r>
            <a:r>
              <a:rPr lang="en" sz="1200" dirty="0" err="1"/>
              <a:t>cada</a:t>
            </a:r>
            <a:r>
              <a:rPr lang="en" sz="1200" dirty="0"/>
              <a:t> </a:t>
            </a:r>
            <a:r>
              <a:rPr lang="en" sz="1200" dirty="0" err="1"/>
              <a:t>usuario</a:t>
            </a:r>
            <a:r>
              <a:rPr lang="en" sz="1200" dirty="0"/>
              <a:t>, el </a:t>
            </a:r>
            <a:r>
              <a:rPr lang="en" sz="1200" dirty="0" err="1"/>
              <a:t>equipo</a:t>
            </a:r>
            <a:r>
              <a:rPr lang="en" sz="1200" dirty="0"/>
              <a:t> de </a:t>
            </a:r>
            <a:r>
              <a:rPr lang="en" sz="1200" dirty="0" err="1"/>
              <a:t>negocio</a:t>
            </a:r>
            <a:r>
              <a:rPr lang="en" sz="1200" dirty="0"/>
              <a:t> </a:t>
            </a:r>
            <a:r>
              <a:rPr lang="en" sz="1200" dirty="0" err="1"/>
              <a:t>podrá</a:t>
            </a:r>
            <a:r>
              <a:rPr lang="en" sz="1200" dirty="0"/>
              <a:t> </a:t>
            </a:r>
            <a:r>
              <a:rPr lang="en" sz="1200" dirty="0" err="1"/>
              <a:t>clasificar</a:t>
            </a:r>
            <a:r>
              <a:rPr lang="en" sz="1200" dirty="0"/>
              <a:t> de forma </a:t>
            </a:r>
            <a:r>
              <a:rPr lang="en" sz="1200" dirty="0" err="1"/>
              <a:t>automatizada</a:t>
            </a:r>
            <a:r>
              <a:rPr lang="en" sz="1200" dirty="0"/>
              <a:t> a la </a:t>
            </a:r>
            <a:r>
              <a:rPr lang="en" sz="1200" dirty="0" err="1"/>
              <a:t>cartera</a:t>
            </a:r>
            <a:r>
              <a:rPr lang="en" sz="1200" dirty="0"/>
              <a:t> de </a:t>
            </a:r>
            <a:r>
              <a:rPr lang="en" sz="1200" dirty="0" err="1"/>
              <a:t>clientes</a:t>
            </a:r>
            <a:r>
              <a:rPr lang="en" sz="1200" dirty="0"/>
              <a:t>, </a:t>
            </a:r>
            <a:r>
              <a:rPr lang="en" sz="1200" dirty="0" err="1"/>
              <a:t>aplicando</a:t>
            </a:r>
            <a:r>
              <a:rPr lang="en" sz="1200" dirty="0"/>
              <a:t> </a:t>
            </a:r>
            <a:r>
              <a:rPr lang="en" sz="1200" dirty="0" err="1"/>
              <a:t>acciones</a:t>
            </a:r>
            <a:r>
              <a:rPr lang="en" sz="1200" dirty="0"/>
              <a:t> </a:t>
            </a:r>
            <a:r>
              <a:rPr lang="en" sz="1200" dirty="0" err="1"/>
              <a:t>comerciales</a:t>
            </a:r>
            <a:r>
              <a:rPr lang="en" sz="1200" dirty="0"/>
              <a:t> de </a:t>
            </a:r>
            <a:r>
              <a:rPr lang="en" sz="1200" dirty="0" err="1"/>
              <a:t>fidelización</a:t>
            </a:r>
            <a:r>
              <a:rPr lang="en" sz="1200" dirty="0"/>
              <a:t> </a:t>
            </a:r>
            <a:r>
              <a:rPr lang="en" sz="1200" dirty="0" err="1"/>
              <a:t>personalizadas</a:t>
            </a:r>
            <a:r>
              <a:rPr lang="en" sz="1200" dirty="0"/>
              <a:t> para </a:t>
            </a:r>
            <a:r>
              <a:rPr lang="en" sz="1200" dirty="0" err="1"/>
              <a:t>aquellos</a:t>
            </a:r>
            <a:r>
              <a:rPr lang="en" sz="1200" dirty="0"/>
              <a:t> con </a:t>
            </a:r>
            <a:r>
              <a:rPr lang="en" sz="1200" dirty="0" err="1"/>
              <a:t>una</a:t>
            </a:r>
            <a:r>
              <a:rPr lang="en" sz="1200" dirty="0"/>
              <a:t> </a:t>
            </a:r>
            <a:r>
              <a:rPr lang="en" sz="1200" dirty="0" err="1"/>
              <a:t>alta</a:t>
            </a:r>
            <a:r>
              <a:rPr lang="en" sz="1200" dirty="0"/>
              <a:t> </a:t>
            </a:r>
            <a:r>
              <a:rPr lang="en" sz="1200" dirty="0" err="1"/>
              <a:t>probabilidad</a:t>
            </a:r>
            <a:r>
              <a:rPr lang="en" sz="1200" dirty="0"/>
              <a:t> de </a:t>
            </a:r>
            <a:r>
              <a:rPr lang="en" sz="1200" dirty="0" err="1"/>
              <a:t>compra</a:t>
            </a:r>
            <a:r>
              <a:rPr lang="en" sz="1200" dirty="0"/>
              <a:t> y </a:t>
            </a:r>
            <a:r>
              <a:rPr lang="en" sz="1200" dirty="0" err="1"/>
              <a:t>diseñando</a:t>
            </a:r>
            <a:r>
              <a:rPr lang="en" sz="1200" dirty="0"/>
              <a:t> </a:t>
            </a:r>
            <a:r>
              <a:rPr lang="en" sz="1200" dirty="0" err="1"/>
              <a:t>estrategias</a:t>
            </a:r>
            <a:r>
              <a:rPr lang="en" sz="1200" dirty="0"/>
              <a:t> </a:t>
            </a:r>
            <a:r>
              <a:rPr lang="en" sz="1200" dirty="0" err="1"/>
              <a:t>urgentes</a:t>
            </a:r>
            <a:r>
              <a:rPr lang="en" sz="1200" dirty="0"/>
              <a:t> de </a:t>
            </a:r>
            <a:r>
              <a:rPr lang="en" sz="1200" dirty="0" err="1"/>
              <a:t>retención</a:t>
            </a:r>
            <a:r>
              <a:rPr lang="en" sz="1200" dirty="0"/>
              <a:t> para </a:t>
            </a:r>
            <a:r>
              <a:rPr lang="en" sz="1200" dirty="0" err="1"/>
              <a:t>los</a:t>
            </a:r>
            <a:r>
              <a:rPr lang="en" sz="1200" dirty="0"/>
              <a:t> </a:t>
            </a:r>
            <a:r>
              <a:rPr lang="en" sz="1200" dirty="0" err="1"/>
              <a:t>perfiles</a:t>
            </a:r>
            <a:r>
              <a:rPr lang="en" sz="1200" dirty="0"/>
              <a:t> </a:t>
            </a:r>
            <a:r>
              <a:rPr lang="en" sz="1200" dirty="0" err="1"/>
              <a:t>que</a:t>
            </a:r>
            <a:r>
              <a:rPr lang="en" sz="1200" dirty="0"/>
              <a:t> </a:t>
            </a:r>
            <a:r>
              <a:rPr lang="en" sz="1200" dirty="0" err="1"/>
              <a:t>registren</a:t>
            </a:r>
            <a:r>
              <a:rPr lang="en" sz="1200" dirty="0"/>
              <a:t> </a:t>
            </a:r>
            <a:r>
              <a:rPr lang="en" sz="1200" dirty="0" err="1"/>
              <a:t>una</a:t>
            </a:r>
            <a:r>
              <a:rPr lang="en" sz="1200" dirty="0"/>
              <a:t> baja </a:t>
            </a:r>
            <a:r>
              <a:rPr lang="en" sz="1200" dirty="0" err="1"/>
              <a:t>probabilidad</a:t>
            </a:r>
            <a:r>
              <a:rPr lang="en" sz="1200" dirty="0"/>
              <a:t> de </a:t>
            </a:r>
            <a:r>
              <a:rPr lang="en" sz="1200" dirty="0" err="1"/>
              <a:t>repetir</a:t>
            </a:r>
            <a:r>
              <a:rPr lang="en" sz="1200" dirty="0"/>
              <a:t> </a:t>
            </a:r>
            <a:r>
              <a:rPr lang="en" sz="1200" dirty="0" err="1"/>
              <a:t>su</a:t>
            </a:r>
            <a:r>
              <a:rPr lang="en" sz="1200" dirty="0"/>
              <a:t> </a:t>
            </a:r>
            <a:r>
              <a:rPr lang="en" sz="1200" dirty="0" err="1"/>
              <a:t>consumo</a:t>
            </a:r>
            <a:r>
              <a:rPr lang="en" sz="1200" dirty="0"/>
              <a:t>.</a:t>
            </a:r>
            <a:endParaRPr lang="es-ES" dirty="0"/>
          </a:p>
        </p:txBody>
      </p:sp>
      <p:sp>
        <p:nvSpPr>
          <p:cNvPr id="61" name="Google Shape;61;p2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Asunciones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2"/>
          <p:cNvSpPr txBox="1">
            <a:spLocks noGrp="1"/>
          </p:cNvSpPr>
          <p:nvPr>
            <p:ph type="body" idx="1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" sz="1200" dirty="0"/>
              <a:t>Para </a:t>
            </a:r>
            <a:r>
              <a:rPr lang="en" sz="1200" dirty="0" err="1"/>
              <a:t>asegurar</a:t>
            </a:r>
            <a:r>
              <a:rPr lang="en" sz="1200" dirty="0"/>
              <a:t> la </a:t>
            </a:r>
            <a:r>
              <a:rPr lang="en" sz="1200" dirty="0" err="1"/>
              <a:t>calidad</a:t>
            </a:r>
            <a:r>
              <a:rPr lang="en" sz="1200" dirty="0"/>
              <a:t> del </a:t>
            </a:r>
            <a:r>
              <a:rPr lang="en" sz="1200" dirty="0" err="1"/>
              <a:t>modelado</a:t>
            </a:r>
            <a:r>
              <a:rPr lang="en" sz="1200" dirty="0"/>
              <a:t> se </a:t>
            </a:r>
            <a:r>
              <a:rPr lang="en" sz="1200" dirty="0" err="1"/>
              <a:t>aplicó</a:t>
            </a:r>
            <a:r>
              <a:rPr lang="en" sz="1200" dirty="0"/>
              <a:t> </a:t>
            </a:r>
            <a:r>
              <a:rPr lang="en" sz="1200" dirty="0" err="1"/>
              <a:t>una</a:t>
            </a:r>
            <a:r>
              <a:rPr lang="en" sz="1200" dirty="0"/>
              <a:t> </a:t>
            </a:r>
            <a:r>
              <a:rPr lang="en" sz="1200" dirty="0" err="1"/>
              <a:t>limpieza</a:t>
            </a:r>
            <a:r>
              <a:rPr lang="en" sz="1200" dirty="0"/>
              <a:t> </a:t>
            </a:r>
            <a:r>
              <a:rPr lang="en" sz="1200" dirty="0" err="1"/>
              <a:t>estricta</a:t>
            </a:r>
            <a:r>
              <a:rPr lang="en" sz="1200" dirty="0"/>
              <a:t> </a:t>
            </a:r>
            <a:r>
              <a:rPr lang="en" sz="1200" dirty="0" err="1"/>
              <a:t>que</a:t>
            </a:r>
            <a:r>
              <a:rPr lang="en" sz="1200" dirty="0"/>
              <a:t> </a:t>
            </a:r>
            <a:r>
              <a:rPr lang="en" sz="1200" dirty="0" err="1"/>
              <a:t>eliminó</a:t>
            </a:r>
            <a:r>
              <a:rPr lang="en" sz="1200" dirty="0"/>
              <a:t> </a:t>
            </a:r>
            <a:r>
              <a:rPr lang="en" sz="1200" dirty="0" err="1"/>
              <a:t>los</a:t>
            </a:r>
            <a:r>
              <a:rPr lang="en" sz="1200" dirty="0"/>
              <a:t> </a:t>
            </a:r>
            <a:r>
              <a:rPr lang="en" sz="1200" dirty="0" err="1"/>
              <a:t>registros</a:t>
            </a:r>
            <a:r>
              <a:rPr lang="en" sz="1200" dirty="0"/>
              <a:t> </a:t>
            </a:r>
            <a:r>
              <a:rPr lang="en" sz="1200" dirty="0" err="1"/>
              <a:t>duplicados</a:t>
            </a:r>
            <a:r>
              <a:rPr lang="en" sz="1200" dirty="0"/>
              <a:t> y las </a:t>
            </a:r>
            <a:r>
              <a:rPr lang="en" sz="1200" dirty="0" err="1"/>
              <a:t>transacciones</a:t>
            </a:r>
            <a:r>
              <a:rPr lang="en" sz="1200" dirty="0"/>
              <a:t> sin </a:t>
            </a:r>
            <a:r>
              <a:rPr lang="en" sz="1200" dirty="0" err="1"/>
              <a:t>identificación</a:t>
            </a:r>
            <a:r>
              <a:rPr lang="en" sz="1200" dirty="0"/>
              <a:t> de </a:t>
            </a:r>
            <a:r>
              <a:rPr lang="en" sz="1200" dirty="0" err="1"/>
              <a:t>cliente</a:t>
            </a:r>
            <a:r>
              <a:rPr lang="en" sz="1200" dirty="0"/>
              <a:t>, </a:t>
            </a:r>
            <a:r>
              <a:rPr lang="en" sz="1200" dirty="0" err="1"/>
              <a:t>descartando</a:t>
            </a:r>
            <a:r>
              <a:rPr lang="en" sz="1200" dirty="0"/>
              <a:t> </a:t>
            </a:r>
            <a:r>
              <a:rPr lang="en" sz="1200" dirty="0" err="1"/>
              <a:t>además</a:t>
            </a:r>
            <a:r>
              <a:rPr lang="en" sz="1200" dirty="0"/>
              <a:t> </a:t>
            </a:r>
            <a:r>
              <a:rPr lang="en" sz="1200" dirty="0" err="1"/>
              <a:t>todas</a:t>
            </a:r>
            <a:r>
              <a:rPr lang="en" sz="1200" dirty="0"/>
              <a:t> las </a:t>
            </a:r>
            <a:r>
              <a:rPr lang="en" sz="1200" dirty="0" err="1"/>
              <a:t>devoluciones</a:t>
            </a:r>
            <a:r>
              <a:rPr lang="en" sz="1200" dirty="0"/>
              <a:t> o </a:t>
            </a:r>
            <a:r>
              <a:rPr lang="en" sz="1200" dirty="0" err="1"/>
              <a:t>cancelaciones</a:t>
            </a:r>
            <a:r>
              <a:rPr lang="en" sz="1200" dirty="0"/>
              <a:t> con </a:t>
            </a:r>
            <a:r>
              <a:rPr lang="en" sz="1200" dirty="0" err="1"/>
              <a:t>cantidades</a:t>
            </a:r>
            <a:r>
              <a:rPr lang="en" sz="1200" dirty="0"/>
              <a:t> o </a:t>
            </a:r>
            <a:r>
              <a:rPr lang="en" sz="1200" dirty="0" err="1"/>
              <a:t>precios</a:t>
            </a:r>
            <a:r>
              <a:rPr lang="en" sz="1200" dirty="0"/>
              <a:t> </a:t>
            </a:r>
            <a:r>
              <a:rPr lang="en" sz="1200" dirty="0" err="1"/>
              <a:t>menores</a:t>
            </a:r>
            <a:r>
              <a:rPr lang="en" sz="1200" dirty="0"/>
              <a:t> o </a:t>
            </a:r>
            <a:r>
              <a:rPr lang="en" sz="1200" dirty="0" err="1"/>
              <a:t>iguales</a:t>
            </a:r>
            <a:r>
              <a:rPr lang="en" sz="1200" dirty="0"/>
              <a:t> a cero. Como </a:t>
            </a:r>
            <a:r>
              <a:rPr lang="en" sz="1200" dirty="0" err="1"/>
              <a:t>asunción</a:t>
            </a:r>
            <a:r>
              <a:rPr lang="en" sz="1200" dirty="0"/>
              <a:t> </a:t>
            </a:r>
            <a:r>
              <a:rPr lang="en" sz="1200" dirty="0" err="1"/>
              <a:t>estratégica</a:t>
            </a:r>
            <a:r>
              <a:rPr lang="en" sz="1200" dirty="0"/>
              <a:t> clave, se </a:t>
            </a:r>
            <a:r>
              <a:rPr lang="en" sz="1200" dirty="0" err="1"/>
              <a:t>optó</a:t>
            </a:r>
            <a:r>
              <a:rPr lang="en" sz="1200" dirty="0"/>
              <a:t> </a:t>
            </a:r>
            <a:r>
              <a:rPr lang="en" sz="1200" dirty="0" err="1"/>
              <a:t>por</a:t>
            </a:r>
            <a:r>
              <a:rPr lang="en" sz="1200" dirty="0"/>
              <a:t> </a:t>
            </a:r>
            <a:r>
              <a:rPr lang="en" sz="1200" dirty="0" err="1"/>
              <a:t>mantener</a:t>
            </a:r>
            <a:r>
              <a:rPr lang="en" sz="1200" dirty="0"/>
              <a:t> </a:t>
            </a:r>
            <a:r>
              <a:rPr lang="en" sz="1200" dirty="0" err="1"/>
              <a:t>los</a:t>
            </a:r>
            <a:r>
              <a:rPr lang="en" sz="1200" dirty="0"/>
              <a:t> </a:t>
            </a:r>
            <a:r>
              <a:rPr lang="en" sz="1200" dirty="0" err="1"/>
              <a:t>valores</a:t>
            </a:r>
            <a:r>
              <a:rPr lang="en" sz="1200" dirty="0"/>
              <a:t> </a:t>
            </a:r>
            <a:r>
              <a:rPr lang="en" sz="1200" dirty="0" err="1"/>
              <a:t>extremos</a:t>
            </a:r>
            <a:r>
              <a:rPr lang="en" sz="1200" dirty="0"/>
              <a:t> u outliers </a:t>
            </a:r>
            <a:r>
              <a:rPr lang="en" sz="1200" dirty="0" err="1"/>
              <a:t>en</a:t>
            </a:r>
            <a:r>
              <a:rPr lang="en" sz="1200" dirty="0"/>
              <a:t> las variables de </a:t>
            </a:r>
            <a:r>
              <a:rPr lang="en" sz="1200" dirty="0" err="1"/>
              <a:t>volumen</a:t>
            </a:r>
            <a:r>
              <a:rPr lang="en" sz="1200" dirty="0"/>
              <a:t> y </a:t>
            </a:r>
            <a:r>
              <a:rPr lang="en" sz="1200" dirty="0" err="1"/>
              <a:t>gasto</a:t>
            </a:r>
            <a:r>
              <a:rPr lang="en" sz="1200" dirty="0"/>
              <a:t> con el </a:t>
            </a:r>
            <a:r>
              <a:rPr lang="en" sz="1200" dirty="0" err="1"/>
              <a:t>objetivo</a:t>
            </a:r>
            <a:r>
              <a:rPr lang="en" sz="1200" dirty="0"/>
              <a:t> de </a:t>
            </a:r>
            <a:r>
              <a:rPr lang="en" sz="1200" dirty="0" err="1"/>
              <a:t>preservar</a:t>
            </a:r>
            <a:r>
              <a:rPr lang="en" sz="1200" dirty="0"/>
              <a:t> la </a:t>
            </a:r>
            <a:r>
              <a:rPr lang="en" sz="1200" dirty="0" err="1"/>
              <a:t>señal</a:t>
            </a:r>
            <a:r>
              <a:rPr lang="en" sz="1200" dirty="0"/>
              <a:t> de </a:t>
            </a:r>
            <a:r>
              <a:rPr lang="en" sz="1200" dirty="0" err="1"/>
              <a:t>los</a:t>
            </a:r>
            <a:r>
              <a:rPr lang="en" sz="1200" dirty="0"/>
              <a:t> </a:t>
            </a:r>
            <a:r>
              <a:rPr lang="en" sz="1200" dirty="0" err="1"/>
              <a:t>clientes</a:t>
            </a:r>
            <a:r>
              <a:rPr lang="en" sz="1200" dirty="0"/>
              <a:t> </a:t>
            </a:r>
            <a:r>
              <a:rPr lang="en" sz="1200" dirty="0" err="1"/>
              <a:t>mayoristas</a:t>
            </a:r>
            <a:r>
              <a:rPr lang="en" sz="1200" dirty="0"/>
              <a:t>, </a:t>
            </a:r>
            <a:r>
              <a:rPr lang="en" sz="1200" dirty="0" err="1"/>
              <a:t>garantizando</a:t>
            </a:r>
            <a:r>
              <a:rPr lang="en" sz="1200" dirty="0"/>
              <a:t> </a:t>
            </a:r>
            <a:r>
              <a:rPr lang="en" sz="1200" dirty="0" err="1"/>
              <a:t>que</a:t>
            </a:r>
            <a:r>
              <a:rPr lang="en" sz="1200" dirty="0"/>
              <a:t> el </a:t>
            </a:r>
            <a:r>
              <a:rPr lang="en" sz="1200" dirty="0" err="1"/>
              <a:t>modelo</a:t>
            </a:r>
            <a:r>
              <a:rPr lang="en" sz="1200" dirty="0"/>
              <a:t> </a:t>
            </a:r>
            <a:r>
              <a:rPr lang="en" sz="1200" dirty="0" err="1"/>
              <a:t>aprenda</a:t>
            </a:r>
            <a:r>
              <a:rPr lang="en" sz="1200" dirty="0"/>
              <a:t> </a:t>
            </a:r>
            <a:r>
              <a:rPr lang="en" sz="1200" dirty="0" err="1"/>
              <a:t>a</a:t>
            </a:r>
            <a:r>
              <a:rPr lang="en" sz="1200" dirty="0"/>
              <a:t> </a:t>
            </a:r>
            <a:r>
              <a:rPr lang="en" sz="1200" dirty="0" err="1"/>
              <a:t>identificar</a:t>
            </a:r>
            <a:r>
              <a:rPr lang="en" sz="1200" dirty="0"/>
              <a:t> </a:t>
            </a:r>
            <a:r>
              <a:rPr lang="en" sz="1200" dirty="0" err="1"/>
              <a:t>a</a:t>
            </a:r>
            <a:r>
              <a:rPr lang="en" sz="1200" dirty="0"/>
              <a:t> </a:t>
            </a:r>
            <a:r>
              <a:rPr lang="en" sz="1200" dirty="0" err="1"/>
              <a:t>este</a:t>
            </a:r>
            <a:r>
              <a:rPr lang="en" sz="1200" dirty="0"/>
              <a:t> </a:t>
            </a:r>
            <a:r>
              <a:rPr lang="en" sz="1200" dirty="0" err="1"/>
              <a:t>segmento</a:t>
            </a:r>
            <a:r>
              <a:rPr lang="en" sz="1200" dirty="0"/>
              <a:t> de alto valor </a:t>
            </a:r>
            <a:r>
              <a:rPr lang="en" sz="1200" dirty="0" err="1"/>
              <a:t>comercial</a:t>
            </a:r>
            <a:r>
              <a:rPr lang="en" sz="1200" dirty="0"/>
              <a:t>. </a:t>
            </a:r>
            <a:r>
              <a:rPr lang="en" sz="1200" dirty="0" err="1"/>
              <a:t>Asimismo</a:t>
            </a:r>
            <a:r>
              <a:rPr lang="en" sz="1200" dirty="0"/>
              <a:t>, el </a:t>
            </a:r>
            <a:r>
              <a:rPr lang="en" sz="1200" dirty="0" err="1"/>
              <a:t>comportamiento</a:t>
            </a:r>
            <a:r>
              <a:rPr lang="en" sz="1200" dirty="0"/>
              <a:t> </a:t>
            </a:r>
            <a:r>
              <a:rPr lang="en" sz="1200" dirty="0" err="1"/>
              <a:t>transaccional</a:t>
            </a:r>
            <a:r>
              <a:rPr lang="en" sz="1200" dirty="0"/>
              <a:t> se </a:t>
            </a:r>
            <a:r>
              <a:rPr lang="en" sz="1200" dirty="0" err="1"/>
              <a:t>estructuró</a:t>
            </a:r>
            <a:r>
              <a:rPr lang="en" sz="1200" dirty="0"/>
              <a:t> </a:t>
            </a:r>
            <a:r>
              <a:rPr lang="en" sz="1200" dirty="0" err="1"/>
              <a:t>calculando</a:t>
            </a:r>
            <a:r>
              <a:rPr lang="en" sz="1200" dirty="0"/>
              <a:t> la </a:t>
            </a:r>
            <a:r>
              <a:rPr lang="en" sz="1200" dirty="0" err="1"/>
              <a:t>recencia</a:t>
            </a:r>
            <a:r>
              <a:rPr lang="en" sz="1200" dirty="0"/>
              <a:t> a </a:t>
            </a:r>
            <a:r>
              <a:rPr lang="en" sz="1200" dirty="0" err="1"/>
              <a:t>partir</a:t>
            </a:r>
            <a:r>
              <a:rPr lang="en" sz="1200" dirty="0"/>
              <a:t> de la media de días </a:t>
            </a:r>
            <a:r>
              <a:rPr lang="en" sz="1200" dirty="0" err="1"/>
              <a:t>transcurridos</a:t>
            </a:r>
            <a:r>
              <a:rPr lang="en" sz="1200" dirty="0"/>
              <a:t> entre un </a:t>
            </a:r>
            <a:r>
              <a:rPr lang="en" sz="1200" dirty="0" err="1"/>
              <a:t>pedido</a:t>
            </a:r>
            <a:r>
              <a:rPr lang="en" sz="1200" dirty="0"/>
              <a:t> y el </a:t>
            </a:r>
            <a:r>
              <a:rPr lang="en" sz="1200" dirty="0" err="1"/>
              <a:t>siguiente</a:t>
            </a:r>
            <a:r>
              <a:rPr lang="en" sz="1200" dirty="0"/>
              <a:t> para </a:t>
            </a:r>
            <a:r>
              <a:rPr lang="en" sz="1200" dirty="0" err="1"/>
              <a:t>cada</a:t>
            </a:r>
            <a:r>
              <a:rPr lang="en" sz="1200" dirty="0"/>
              <a:t> </a:t>
            </a:r>
            <a:r>
              <a:rPr lang="en" sz="1200" dirty="0" err="1"/>
              <a:t>usuario</a:t>
            </a:r>
            <a:r>
              <a:rPr lang="en" sz="1200" dirty="0"/>
              <a:t>. </a:t>
            </a:r>
            <a:r>
              <a:rPr lang="en" sz="1200" dirty="0" err="1"/>
              <a:t>Sobre</a:t>
            </a:r>
            <a:r>
              <a:rPr lang="en" sz="1200" dirty="0"/>
              <a:t> </a:t>
            </a:r>
            <a:r>
              <a:rPr lang="en" sz="1200" dirty="0" err="1"/>
              <a:t>esta</a:t>
            </a:r>
            <a:r>
              <a:rPr lang="en" sz="1200" dirty="0"/>
              <a:t> </a:t>
            </a:r>
            <a:r>
              <a:rPr lang="en" sz="1200" dirty="0" err="1"/>
              <a:t>métrica</a:t>
            </a:r>
            <a:r>
              <a:rPr lang="en" sz="1200" dirty="0"/>
              <a:t> base, se </a:t>
            </a:r>
            <a:r>
              <a:rPr lang="en" sz="1200" dirty="0" err="1"/>
              <a:t>implementó</a:t>
            </a:r>
            <a:r>
              <a:rPr lang="en" sz="1200" dirty="0"/>
              <a:t> </a:t>
            </a:r>
            <a:r>
              <a:rPr lang="en" sz="1200" dirty="0" err="1"/>
              <a:t>una</a:t>
            </a:r>
            <a:r>
              <a:rPr lang="en" sz="1200" dirty="0"/>
              <a:t> </a:t>
            </a:r>
            <a:r>
              <a:rPr lang="en" sz="1200" dirty="0" err="1"/>
              <a:t>exclusión</a:t>
            </a:r>
            <a:r>
              <a:rPr lang="en" sz="1200" dirty="0"/>
              <a:t> </a:t>
            </a:r>
            <a:r>
              <a:rPr lang="en" sz="1200" dirty="0" err="1"/>
              <a:t>dinámica</a:t>
            </a:r>
            <a:r>
              <a:rPr lang="en" sz="1200" dirty="0"/>
              <a:t> de </a:t>
            </a:r>
            <a:r>
              <a:rPr lang="en" sz="1200" dirty="0" err="1"/>
              <a:t>aquellos</a:t>
            </a:r>
            <a:r>
              <a:rPr lang="en" sz="1200" dirty="0"/>
              <a:t> </a:t>
            </a:r>
            <a:r>
              <a:rPr lang="en" sz="1200" dirty="0" err="1"/>
              <a:t>clientes</a:t>
            </a:r>
            <a:r>
              <a:rPr lang="en" sz="1200" dirty="0"/>
              <a:t> </a:t>
            </a:r>
            <a:r>
              <a:rPr lang="en" sz="1200" dirty="0" err="1"/>
              <a:t>en</a:t>
            </a:r>
            <a:r>
              <a:rPr lang="en" sz="1200" dirty="0"/>
              <a:t> </a:t>
            </a:r>
            <a:r>
              <a:rPr lang="en" sz="1200" dirty="0" err="1"/>
              <a:t>periodo</a:t>
            </a:r>
            <a:r>
              <a:rPr lang="en" sz="1200" dirty="0"/>
              <a:t> de </a:t>
            </a:r>
            <a:r>
              <a:rPr lang="en" sz="1200" dirty="0" err="1"/>
              <a:t>duda</a:t>
            </a:r>
            <a:r>
              <a:rPr lang="en" sz="1200" dirty="0"/>
              <a:t> </a:t>
            </a:r>
            <a:r>
              <a:rPr lang="en" sz="1200" dirty="0" err="1"/>
              <a:t>que</a:t>
            </a:r>
            <a:r>
              <a:rPr lang="en" sz="1200" dirty="0"/>
              <a:t> </a:t>
            </a:r>
            <a:r>
              <a:rPr lang="en" sz="1200" dirty="0" err="1"/>
              <a:t>contaban</a:t>
            </a:r>
            <a:r>
              <a:rPr lang="en" sz="1200" dirty="0"/>
              <a:t> con </a:t>
            </a:r>
            <a:r>
              <a:rPr lang="en" sz="1200" dirty="0" err="1"/>
              <a:t>una</a:t>
            </a:r>
            <a:r>
              <a:rPr lang="en" sz="1200" dirty="0"/>
              <a:t> </a:t>
            </a:r>
            <a:r>
              <a:rPr lang="en" sz="1200" dirty="0" err="1"/>
              <a:t>única</a:t>
            </a:r>
            <a:r>
              <a:rPr lang="en" sz="1200" dirty="0"/>
              <a:t> </a:t>
            </a:r>
            <a:r>
              <a:rPr lang="en" sz="1200" dirty="0" err="1"/>
              <a:t>compra</a:t>
            </a:r>
            <a:r>
              <a:rPr lang="en" sz="1200" dirty="0"/>
              <a:t> </a:t>
            </a:r>
            <a:r>
              <a:rPr lang="en" sz="1200" dirty="0" err="1"/>
              <a:t>histórica</a:t>
            </a:r>
            <a:r>
              <a:rPr lang="en" sz="1200" dirty="0"/>
              <a:t> </a:t>
            </a:r>
            <a:r>
              <a:rPr lang="en" sz="1200" dirty="0" err="1"/>
              <a:t>pero</a:t>
            </a:r>
            <a:r>
              <a:rPr lang="en" sz="1200" dirty="0"/>
              <a:t> </a:t>
            </a:r>
            <a:r>
              <a:rPr lang="en" sz="1200" dirty="0" err="1"/>
              <a:t>cuya</a:t>
            </a:r>
            <a:r>
              <a:rPr lang="en" sz="1200" dirty="0"/>
              <a:t> </a:t>
            </a:r>
            <a:r>
              <a:rPr lang="en" sz="1200" dirty="0" err="1"/>
              <a:t>inactividad</a:t>
            </a:r>
            <a:r>
              <a:rPr lang="en" sz="1200" dirty="0"/>
              <a:t> era inferior al </a:t>
            </a:r>
            <a:r>
              <a:rPr lang="en" sz="1200" dirty="0" err="1"/>
              <a:t>ciclo</a:t>
            </a:r>
            <a:r>
              <a:rPr lang="en" sz="1200" dirty="0"/>
              <a:t> medio de </a:t>
            </a:r>
            <a:r>
              <a:rPr lang="en" sz="1200" dirty="0" err="1"/>
              <a:t>su</a:t>
            </a:r>
            <a:r>
              <a:rPr lang="en" sz="1200" dirty="0"/>
              <a:t> </a:t>
            </a:r>
            <a:r>
              <a:rPr lang="en" sz="1200" dirty="0" err="1"/>
              <a:t>región</a:t>
            </a:r>
            <a:r>
              <a:rPr lang="en" sz="1200" dirty="0"/>
              <a:t> </a:t>
            </a:r>
            <a:r>
              <a:rPr lang="en" sz="1200" dirty="0" err="1"/>
              <a:t>geográfica</a:t>
            </a:r>
            <a:r>
              <a:rPr lang="en" sz="1200" dirty="0"/>
              <a:t>, </a:t>
            </a:r>
            <a:r>
              <a:rPr lang="en" sz="1200" dirty="0" err="1"/>
              <a:t>evitando</a:t>
            </a:r>
            <a:r>
              <a:rPr lang="en" sz="1200" dirty="0"/>
              <a:t> </a:t>
            </a:r>
            <a:r>
              <a:rPr lang="en" sz="1200" dirty="0" err="1"/>
              <a:t>así</a:t>
            </a:r>
            <a:r>
              <a:rPr lang="en" sz="1200" dirty="0"/>
              <a:t> </a:t>
            </a:r>
            <a:r>
              <a:rPr lang="en" sz="1200" dirty="0" err="1"/>
              <a:t>sesgar</a:t>
            </a:r>
            <a:r>
              <a:rPr lang="en" sz="1200" dirty="0"/>
              <a:t> el </a:t>
            </a:r>
            <a:r>
              <a:rPr lang="en" sz="1200" dirty="0" err="1"/>
              <a:t>algoritmo</a:t>
            </a:r>
            <a:r>
              <a:rPr lang="en" sz="1200" dirty="0"/>
              <a:t> con </a:t>
            </a:r>
            <a:r>
              <a:rPr lang="en" sz="1200" dirty="0" err="1"/>
              <a:t>falsos</a:t>
            </a:r>
            <a:r>
              <a:rPr lang="en" sz="1200" dirty="0"/>
              <a:t> no-</a:t>
            </a:r>
            <a:r>
              <a:rPr lang="en" sz="1200" dirty="0" err="1"/>
              <a:t>repetidores</a:t>
            </a:r>
            <a:r>
              <a:rPr lang="en" sz="1200" dirty="0"/>
              <a:t> </a:t>
            </a:r>
            <a:r>
              <a:rPr lang="en" sz="1200" dirty="0" err="1"/>
              <a:t>que</a:t>
            </a:r>
            <a:r>
              <a:rPr lang="en" sz="1200" dirty="0"/>
              <a:t> </a:t>
            </a:r>
            <a:r>
              <a:rPr lang="en" sz="1200" dirty="0" err="1"/>
              <a:t>simplemente</a:t>
            </a:r>
            <a:r>
              <a:rPr lang="en" sz="1200" dirty="0"/>
              <a:t> no </a:t>
            </a:r>
            <a:r>
              <a:rPr lang="en" sz="1200" dirty="0" err="1"/>
              <a:t>habían</a:t>
            </a:r>
            <a:r>
              <a:rPr lang="en" sz="1200" dirty="0"/>
              <a:t> </a:t>
            </a:r>
            <a:r>
              <a:rPr lang="en" sz="1200" dirty="0" err="1"/>
              <a:t>dispuesto</a:t>
            </a:r>
            <a:r>
              <a:rPr lang="en" sz="1200" dirty="0"/>
              <a:t> de </a:t>
            </a:r>
            <a:r>
              <a:rPr lang="en" sz="1200" dirty="0" err="1"/>
              <a:t>tiempo</a:t>
            </a:r>
            <a:r>
              <a:rPr lang="en" sz="1200" dirty="0"/>
              <a:t> </a:t>
            </a:r>
            <a:r>
              <a:rPr lang="en" sz="1200" dirty="0" err="1"/>
              <a:t>físico</a:t>
            </a:r>
            <a:r>
              <a:rPr lang="en" sz="1200" dirty="0"/>
              <a:t> para </a:t>
            </a:r>
            <a:r>
              <a:rPr lang="en" sz="1200" dirty="0" err="1"/>
              <a:t>volver</a:t>
            </a:r>
            <a:r>
              <a:rPr lang="en" sz="1200" dirty="0"/>
              <a:t>.</a:t>
            </a:r>
            <a:endParaRPr lang="es-E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 txBox="1">
            <a:spLocks noGrp="1"/>
          </p:cNvSpPr>
          <p:nvPr>
            <p:ph type="title"/>
          </p:nvPr>
        </p:nvSpPr>
        <p:spPr>
          <a:xfrm>
            <a:off x="311700" y="35108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69" name="Google Shape;69;p3"/>
          <p:cNvSpPr txBox="1">
            <a:spLocks noGrp="1"/>
          </p:cNvSpPr>
          <p:nvPr>
            <p:ph type="body" idx="1"/>
          </p:nvPr>
        </p:nvSpPr>
        <p:spPr>
          <a:xfrm>
            <a:off x="693530" y="3904945"/>
            <a:ext cx="2566200" cy="933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" sz="1100" dirty="0"/>
              <a:t>El </a:t>
            </a:r>
            <a:r>
              <a:rPr lang="en" sz="1100" dirty="0" err="1"/>
              <a:t>gráfico</a:t>
            </a:r>
            <a:r>
              <a:rPr lang="en" sz="1100" dirty="0"/>
              <a:t> </a:t>
            </a:r>
            <a:r>
              <a:rPr lang="en" sz="1100" dirty="0" err="1"/>
              <a:t>refleja</a:t>
            </a:r>
            <a:r>
              <a:rPr lang="en" sz="1100" dirty="0"/>
              <a:t> </a:t>
            </a:r>
            <a:r>
              <a:rPr lang="en" sz="1100" dirty="0" err="1"/>
              <a:t>que</a:t>
            </a:r>
            <a:r>
              <a:rPr lang="en" sz="1100" dirty="0"/>
              <a:t> la </a:t>
            </a:r>
            <a:r>
              <a:rPr lang="en" sz="1100" dirty="0" err="1"/>
              <a:t>inmensa</a:t>
            </a:r>
            <a:r>
              <a:rPr lang="en" sz="1100" dirty="0"/>
              <a:t> </a:t>
            </a:r>
            <a:r>
              <a:rPr lang="en" sz="1100" dirty="0" err="1"/>
              <a:t>mayoría</a:t>
            </a:r>
            <a:r>
              <a:rPr lang="en" sz="1100" dirty="0"/>
              <a:t> de las </a:t>
            </a:r>
            <a:r>
              <a:rPr lang="en" sz="1100" dirty="0" err="1"/>
              <a:t>transacciones</a:t>
            </a:r>
            <a:r>
              <a:rPr lang="en" sz="1100" dirty="0"/>
              <a:t> se </a:t>
            </a:r>
            <a:r>
              <a:rPr lang="en" sz="1100" dirty="0" err="1"/>
              <a:t>concentran</a:t>
            </a:r>
            <a:r>
              <a:rPr lang="en" sz="1100" dirty="0"/>
              <a:t> </a:t>
            </a:r>
            <a:r>
              <a:rPr lang="en" sz="1100" dirty="0" err="1"/>
              <a:t>en</a:t>
            </a:r>
            <a:r>
              <a:rPr lang="en" sz="1100" dirty="0"/>
              <a:t> </a:t>
            </a:r>
            <a:r>
              <a:rPr lang="en" sz="1100" dirty="0" err="1"/>
              <a:t>volúmenes</a:t>
            </a:r>
            <a:r>
              <a:rPr lang="en" sz="1100" dirty="0"/>
              <a:t> </a:t>
            </a:r>
            <a:r>
              <a:rPr lang="en" sz="1100" dirty="0" err="1"/>
              <a:t>pequeños</a:t>
            </a:r>
            <a:r>
              <a:rPr lang="en" sz="1100" dirty="0"/>
              <a:t> </a:t>
            </a:r>
            <a:r>
              <a:rPr lang="en" sz="1100" dirty="0" err="1"/>
              <a:t>por</a:t>
            </a:r>
            <a:r>
              <a:rPr lang="en" sz="1100" dirty="0"/>
              <a:t> </a:t>
            </a:r>
            <a:r>
              <a:rPr lang="en" sz="1100" dirty="0" err="1"/>
              <a:t>pedido</a:t>
            </a:r>
            <a:r>
              <a:rPr lang="en" sz="1100" dirty="0"/>
              <a:t>. Sin embargo, la </a:t>
            </a:r>
            <a:r>
              <a:rPr lang="en" sz="1100" dirty="0" err="1"/>
              <a:t>extensión</a:t>
            </a:r>
            <a:r>
              <a:rPr lang="en" sz="1100" dirty="0"/>
              <a:t> de la </a:t>
            </a:r>
            <a:r>
              <a:rPr lang="en" sz="1100" dirty="0" err="1"/>
              <a:t>distribución</a:t>
            </a:r>
            <a:r>
              <a:rPr lang="en" sz="1100" dirty="0"/>
              <a:t> </a:t>
            </a:r>
            <a:r>
              <a:rPr lang="en" sz="1100" dirty="0" err="1"/>
              <a:t>hacia</a:t>
            </a:r>
            <a:r>
              <a:rPr lang="en" sz="1100" dirty="0"/>
              <a:t> el </a:t>
            </a:r>
            <a:r>
              <a:rPr lang="en" sz="1100" dirty="0" err="1"/>
              <a:t>percentil</a:t>
            </a:r>
            <a:r>
              <a:rPr lang="en" sz="1100" dirty="0"/>
              <a:t> </a:t>
            </a:r>
            <a:r>
              <a:rPr lang="en" sz="1100" dirty="0" err="1"/>
              <a:t>noventa</a:t>
            </a:r>
            <a:r>
              <a:rPr lang="en" sz="1100" dirty="0"/>
              <a:t> y </a:t>
            </a:r>
            <a:r>
              <a:rPr lang="en" sz="1100" dirty="0" err="1"/>
              <a:t>nueve</a:t>
            </a:r>
            <a:r>
              <a:rPr lang="en" sz="1100" dirty="0"/>
              <a:t> </a:t>
            </a:r>
            <a:r>
              <a:rPr lang="en" sz="1100" dirty="0" err="1"/>
              <a:t>demuestra</a:t>
            </a:r>
            <a:r>
              <a:rPr lang="en" sz="1100" dirty="0"/>
              <a:t> la </a:t>
            </a:r>
            <a:r>
              <a:rPr lang="en" sz="1100" dirty="0" err="1"/>
              <a:t>existencia</a:t>
            </a:r>
            <a:r>
              <a:rPr lang="en" sz="1100" dirty="0"/>
              <a:t> de </a:t>
            </a:r>
            <a:r>
              <a:rPr lang="en" sz="1100" dirty="0" err="1"/>
              <a:t>compras</a:t>
            </a:r>
            <a:r>
              <a:rPr lang="en" sz="1100" dirty="0"/>
              <a:t> de gran </a:t>
            </a:r>
            <a:r>
              <a:rPr lang="en" sz="1100" dirty="0" err="1"/>
              <a:t>volumen</a:t>
            </a:r>
            <a:r>
              <a:rPr lang="en" sz="1100" dirty="0"/>
              <a:t> </a:t>
            </a:r>
            <a:r>
              <a:rPr lang="en" sz="1100" dirty="0" err="1"/>
              <a:t>pertenecientes</a:t>
            </a:r>
            <a:r>
              <a:rPr lang="en" sz="1100" dirty="0"/>
              <a:t> a </a:t>
            </a:r>
            <a:r>
              <a:rPr lang="en" sz="1100" dirty="0" err="1"/>
              <a:t>perfiles</a:t>
            </a:r>
            <a:r>
              <a:rPr lang="en" sz="1100" dirty="0"/>
              <a:t> </a:t>
            </a:r>
            <a:r>
              <a:rPr lang="en" sz="1100" dirty="0" err="1"/>
              <a:t>corporativos</a:t>
            </a:r>
            <a:r>
              <a:rPr lang="en" sz="1100" dirty="0"/>
              <a:t> o </a:t>
            </a:r>
            <a:r>
              <a:rPr lang="en" sz="1100" dirty="0" err="1"/>
              <a:t>mayoristas</a:t>
            </a:r>
            <a:r>
              <a:rPr lang="en" sz="1100" dirty="0"/>
              <a:t> </a:t>
            </a:r>
            <a:r>
              <a:rPr lang="en" sz="1100" dirty="0" err="1"/>
              <a:t>que</a:t>
            </a:r>
            <a:r>
              <a:rPr lang="en" sz="1100" dirty="0"/>
              <a:t> </a:t>
            </a:r>
            <a:r>
              <a:rPr lang="en" sz="1100" dirty="0" err="1"/>
              <a:t>representan</a:t>
            </a:r>
            <a:r>
              <a:rPr lang="en" sz="1100" dirty="0"/>
              <a:t> un pilar de </a:t>
            </a:r>
            <a:r>
              <a:rPr lang="en" sz="1100" dirty="0" err="1"/>
              <a:t>facturación</a:t>
            </a:r>
            <a:r>
              <a:rPr lang="en" sz="1100" dirty="0"/>
              <a:t> clave para el </a:t>
            </a:r>
            <a:r>
              <a:rPr lang="en" sz="1100" dirty="0" err="1"/>
              <a:t>negocio</a:t>
            </a:r>
            <a:r>
              <a:rPr lang="en" sz="1100" dirty="0"/>
              <a:t>.</a:t>
            </a:r>
            <a:endParaRPr lang="es-ES" dirty="0"/>
          </a:p>
        </p:txBody>
      </p:sp>
      <p:sp>
        <p:nvSpPr>
          <p:cNvPr id="71" name="Google Shape;71;p3"/>
          <p:cNvSpPr txBox="1">
            <a:spLocks noGrp="1"/>
          </p:cNvSpPr>
          <p:nvPr>
            <p:ph type="body" idx="1"/>
          </p:nvPr>
        </p:nvSpPr>
        <p:spPr>
          <a:xfrm>
            <a:off x="691912" y="928893"/>
            <a:ext cx="2558372" cy="467132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lnSpc>
                <a:spcPct val="95000"/>
              </a:lnSpc>
              <a:spcAft>
                <a:spcPts val="1200"/>
              </a:spcAft>
              <a:buNone/>
            </a:pPr>
            <a:r>
              <a:rPr lang="en" sz="1450" dirty="0" err="1">
                <a:solidFill>
                  <a:schemeClr val="lt1"/>
                </a:solidFill>
              </a:rPr>
              <a:t>Distribución</a:t>
            </a:r>
            <a:r>
              <a:rPr lang="en" sz="1450" dirty="0">
                <a:solidFill>
                  <a:schemeClr val="lt1"/>
                </a:solidFill>
              </a:rPr>
              <a:t> del </a:t>
            </a:r>
            <a:r>
              <a:rPr lang="en" sz="1450" dirty="0" err="1">
                <a:solidFill>
                  <a:schemeClr val="lt1"/>
                </a:solidFill>
              </a:rPr>
              <a:t>volumen</a:t>
            </a:r>
            <a:r>
              <a:rPr lang="en" sz="1450" dirty="0">
                <a:solidFill>
                  <a:schemeClr val="lt1"/>
                </a:solidFill>
              </a:rPr>
              <a:t> </a:t>
            </a:r>
            <a:r>
              <a:rPr lang="en" sz="1450" dirty="0" err="1">
                <a:solidFill>
                  <a:schemeClr val="lt1"/>
                </a:solidFill>
              </a:rPr>
              <a:t>por</a:t>
            </a:r>
            <a:r>
              <a:rPr lang="en" sz="1450" dirty="0">
                <a:solidFill>
                  <a:schemeClr val="lt1"/>
                </a:solidFill>
              </a:rPr>
              <a:t> </a:t>
            </a:r>
            <a:r>
              <a:rPr lang="en" sz="1450" dirty="0" err="1">
                <a:solidFill>
                  <a:schemeClr val="lt1"/>
                </a:solidFill>
              </a:rPr>
              <a:t>línea</a:t>
            </a:r>
            <a:r>
              <a:rPr lang="en" sz="1450" dirty="0">
                <a:solidFill>
                  <a:schemeClr val="lt1"/>
                </a:solidFill>
              </a:rPr>
              <a:t> de factura</a:t>
            </a:r>
            <a:endParaRPr lang="es-ES" dirty="0">
              <a:solidFill>
                <a:schemeClr val="lt1"/>
              </a:solidFill>
            </a:endParaRPr>
          </a:p>
        </p:txBody>
      </p:sp>
      <p:sp>
        <p:nvSpPr>
          <p:cNvPr id="75" name="Google Shape;75;p3"/>
          <p:cNvSpPr txBox="1">
            <a:spLocks noGrp="1"/>
          </p:cNvSpPr>
          <p:nvPr>
            <p:ph type="body" idx="1"/>
          </p:nvPr>
        </p:nvSpPr>
        <p:spPr>
          <a:xfrm>
            <a:off x="4498511" y="3904945"/>
            <a:ext cx="2566200" cy="933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" sz="1100" dirty="0"/>
              <a:t>El </a:t>
            </a:r>
            <a:r>
              <a:rPr lang="en" sz="1100" dirty="0" err="1"/>
              <a:t>análisis</a:t>
            </a:r>
            <a:r>
              <a:rPr lang="en" sz="1100" dirty="0"/>
              <a:t> de </a:t>
            </a:r>
            <a:r>
              <a:rPr lang="en" sz="1100" dirty="0" err="1"/>
              <a:t>precios</a:t>
            </a:r>
            <a:r>
              <a:rPr lang="en" sz="1100" dirty="0"/>
              <a:t> </a:t>
            </a:r>
            <a:r>
              <a:rPr lang="en" sz="1100" dirty="0" err="1"/>
              <a:t>unitarios</a:t>
            </a:r>
            <a:r>
              <a:rPr lang="en" sz="1100" dirty="0"/>
              <a:t> </a:t>
            </a:r>
            <a:r>
              <a:rPr lang="en" sz="1100" dirty="0" err="1"/>
              <a:t>muestra</a:t>
            </a:r>
            <a:r>
              <a:rPr lang="en" sz="1100" dirty="0"/>
              <a:t> </a:t>
            </a:r>
            <a:r>
              <a:rPr lang="en" sz="1100" dirty="0" err="1"/>
              <a:t>una</a:t>
            </a:r>
            <a:r>
              <a:rPr lang="en" sz="1100" dirty="0"/>
              <a:t> </a:t>
            </a:r>
            <a:r>
              <a:rPr lang="en" sz="1100" dirty="0" err="1"/>
              <a:t>alta</a:t>
            </a:r>
            <a:r>
              <a:rPr lang="en" sz="1100" dirty="0"/>
              <a:t> </a:t>
            </a:r>
            <a:r>
              <a:rPr lang="en" sz="1100" dirty="0" err="1"/>
              <a:t>concentración</a:t>
            </a:r>
            <a:r>
              <a:rPr lang="en" sz="1100" dirty="0"/>
              <a:t> de </a:t>
            </a:r>
            <a:r>
              <a:rPr lang="en" sz="1100" dirty="0" err="1"/>
              <a:t>ventas</a:t>
            </a:r>
            <a:r>
              <a:rPr lang="en" sz="1100" dirty="0"/>
              <a:t> </a:t>
            </a:r>
            <a:r>
              <a:rPr lang="en" sz="1100" dirty="0" err="1"/>
              <a:t>en</a:t>
            </a:r>
            <a:r>
              <a:rPr lang="en" sz="1100" dirty="0"/>
              <a:t> </a:t>
            </a:r>
            <a:r>
              <a:rPr lang="en" sz="1100" dirty="0" err="1"/>
              <a:t>artículos</a:t>
            </a:r>
            <a:r>
              <a:rPr lang="en" sz="1100" dirty="0"/>
              <a:t> </a:t>
            </a:r>
            <a:r>
              <a:rPr lang="en" sz="1100" dirty="0" err="1"/>
              <a:t>económicos</a:t>
            </a:r>
            <a:r>
              <a:rPr lang="en" sz="1100" dirty="0"/>
              <a:t>, </a:t>
            </a:r>
            <a:r>
              <a:rPr lang="en" sz="1100" dirty="0" err="1"/>
              <a:t>situándose</a:t>
            </a:r>
            <a:r>
              <a:rPr lang="en" sz="1100" dirty="0"/>
              <a:t> la mayor </a:t>
            </a:r>
            <a:r>
              <a:rPr lang="en" sz="1100" dirty="0" err="1"/>
              <a:t>frecuencia</a:t>
            </a:r>
            <a:r>
              <a:rPr lang="en" sz="1100" dirty="0"/>
              <a:t> </a:t>
            </a:r>
            <a:r>
              <a:rPr lang="en" sz="1100" dirty="0" err="1"/>
              <a:t>por</a:t>
            </a:r>
            <a:r>
              <a:rPr lang="en" sz="1100" dirty="0"/>
              <a:t> </a:t>
            </a:r>
            <a:r>
              <a:rPr lang="en" sz="1100" dirty="0" err="1"/>
              <a:t>debajo</a:t>
            </a:r>
            <a:r>
              <a:rPr lang="en" sz="1100" dirty="0"/>
              <a:t> de </a:t>
            </a:r>
            <a:r>
              <a:rPr lang="en" sz="1100" dirty="0" err="1"/>
              <a:t>los</a:t>
            </a:r>
            <a:r>
              <a:rPr lang="en" sz="1100" dirty="0"/>
              <a:t> </a:t>
            </a:r>
            <a:r>
              <a:rPr lang="en" sz="1100" dirty="0" err="1"/>
              <a:t>tres</a:t>
            </a:r>
            <a:r>
              <a:rPr lang="en" sz="1100" dirty="0"/>
              <a:t> euros. Este </a:t>
            </a:r>
            <a:r>
              <a:rPr lang="en" sz="1100" dirty="0" err="1"/>
              <a:t>comportamiento</a:t>
            </a:r>
            <a:r>
              <a:rPr lang="en" sz="1100" dirty="0"/>
              <a:t> es </a:t>
            </a:r>
            <a:r>
              <a:rPr lang="en" sz="1100" dirty="0" err="1"/>
              <a:t>típico</a:t>
            </a:r>
            <a:r>
              <a:rPr lang="en" sz="1100" dirty="0"/>
              <a:t> </a:t>
            </a:r>
            <a:r>
              <a:rPr lang="en" sz="1100" dirty="0" err="1"/>
              <a:t>en</a:t>
            </a:r>
            <a:r>
              <a:rPr lang="en" sz="1100" dirty="0"/>
              <a:t> el sector de retail de regalos y </a:t>
            </a:r>
            <a:r>
              <a:rPr lang="en" sz="1100" dirty="0" err="1"/>
              <a:t>decoración</a:t>
            </a:r>
            <a:r>
              <a:rPr lang="en" sz="1100" dirty="0"/>
              <a:t>, </a:t>
            </a:r>
            <a:r>
              <a:rPr lang="en" sz="1100" dirty="0" err="1"/>
              <a:t>donde</a:t>
            </a:r>
            <a:r>
              <a:rPr lang="en" sz="1100" dirty="0"/>
              <a:t> el </a:t>
            </a:r>
            <a:r>
              <a:rPr lang="en" sz="1100" dirty="0" err="1"/>
              <a:t>volumen</a:t>
            </a:r>
            <a:r>
              <a:rPr lang="en" sz="1100" dirty="0"/>
              <a:t> de </a:t>
            </a:r>
            <a:r>
              <a:rPr lang="en" sz="1100" dirty="0" err="1"/>
              <a:t>negocio</a:t>
            </a:r>
            <a:r>
              <a:rPr lang="en" sz="1100" dirty="0"/>
              <a:t> se genera </a:t>
            </a:r>
            <a:r>
              <a:rPr lang="en" sz="1100" dirty="0" err="1"/>
              <a:t>mediante</a:t>
            </a:r>
            <a:r>
              <a:rPr lang="en" sz="1100" dirty="0"/>
              <a:t> la </a:t>
            </a:r>
            <a:r>
              <a:rPr lang="en" sz="1100" dirty="0" err="1"/>
              <a:t>rotación</a:t>
            </a:r>
            <a:r>
              <a:rPr lang="en" sz="1100" dirty="0"/>
              <a:t> </a:t>
            </a:r>
            <a:r>
              <a:rPr lang="en" sz="1100" dirty="0" err="1"/>
              <a:t>masiva</a:t>
            </a:r>
            <a:r>
              <a:rPr lang="en" sz="1100" dirty="0"/>
              <a:t> de </a:t>
            </a:r>
            <a:r>
              <a:rPr lang="en" sz="1100" dirty="0" err="1"/>
              <a:t>productos</a:t>
            </a:r>
            <a:r>
              <a:rPr lang="en" sz="1100" dirty="0"/>
              <a:t> de bajo </a:t>
            </a:r>
            <a:r>
              <a:rPr lang="en" sz="1100" dirty="0" err="1"/>
              <a:t>coste</a:t>
            </a:r>
            <a:r>
              <a:rPr lang="en" sz="1100" dirty="0"/>
              <a:t> </a:t>
            </a:r>
            <a:r>
              <a:rPr lang="en" sz="1100" dirty="0" err="1"/>
              <a:t>unitario</a:t>
            </a:r>
            <a:r>
              <a:rPr lang="en" sz="1100" dirty="0"/>
              <a:t>.</a:t>
            </a:r>
            <a:endParaRPr lang="es-ES" dirty="0"/>
          </a:p>
        </p:txBody>
      </p:sp>
      <p:sp>
        <p:nvSpPr>
          <p:cNvPr id="77" name="Google Shape;77;p3"/>
          <p:cNvSpPr txBox="1">
            <a:spLocks noGrp="1"/>
          </p:cNvSpPr>
          <p:nvPr>
            <p:ph type="body" idx="1"/>
          </p:nvPr>
        </p:nvSpPr>
        <p:spPr>
          <a:xfrm>
            <a:off x="4575180" y="921064"/>
            <a:ext cx="2566200" cy="474961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>
              <a:lnSpc>
                <a:spcPct val="95000"/>
              </a:lnSpc>
              <a:spcAft>
                <a:spcPts val="1200"/>
              </a:spcAft>
              <a:buNone/>
            </a:pPr>
            <a:r>
              <a:rPr lang="en" sz="1450" dirty="0" err="1">
                <a:solidFill>
                  <a:schemeClr val="lt1"/>
                </a:solidFill>
              </a:rPr>
              <a:t>Distribución</a:t>
            </a:r>
            <a:r>
              <a:rPr lang="en" sz="1450" dirty="0">
                <a:solidFill>
                  <a:schemeClr val="lt1"/>
                </a:solidFill>
              </a:rPr>
              <a:t> de </a:t>
            </a:r>
            <a:r>
              <a:rPr lang="en" sz="1450" dirty="0" err="1">
                <a:solidFill>
                  <a:schemeClr val="lt1"/>
                </a:solidFill>
              </a:rPr>
              <a:t>precios</a:t>
            </a:r>
            <a:r>
              <a:rPr lang="en" sz="1450" dirty="0">
                <a:solidFill>
                  <a:schemeClr val="lt1"/>
                </a:solidFill>
              </a:rPr>
              <a:t> </a:t>
            </a:r>
            <a:r>
              <a:rPr lang="en" sz="1450" dirty="0" err="1">
                <a:solidFill>
                  <a:schemeClr val="lt1"/>
                </a:solidFill>
              </a:rPr>
              <a:t>unitarios</a:t>
            </a:r>
            <a:r>
              <a:rPr lang="en" sz="1450" dirty="0">
                <a:solidFill>
                  <a:schemeClr val="lt1"/>
                </a:solidFill>
              </a:rPr>
              <a:t> </a:t>
            </a:r>
            <a:r>
              <a:rPr lang="en" sz="1450" dirty="0" err="1">
                <a:solidFill>
                  <a:schemeClr val="lt1"/>
                </a:solidFill>
              </a:rPr>
              <a:t>en</a:t>
            </a:r>
            <a:r>
              <a:rPr lang="en" sz="1450" dirty="0">
                <a:solidFill>
                  <a:schemeClr val="lt1"/>
                </a:solidFill>
              </a:rPr>
              <a:t> el </a:t>
            </a:r>
            <a:r>
              <a:rPr lang="en" sz="1450" dirty="0" err="1">
                <a:solidFill>
                  <a:schemeClr val="lt1"/>
                </a:solidFill>
              </a:rPr>
              <a:t>catálogo</a:t>
            </a:r>
            <a:endParaRPr lang="es-ES" dirty="0" err="1">
              <a:solidFill>
                <a:schemeClr val="lt1"/>
              </a:solidFill>
            </a:endParaRPr>
          </a:p>
        </p:txBody>
      </p:sp>
      <p:pic>
        <p:nvPicPr>
          <p:cNvPr id="2" name="Imagen 1" descr="Gráfico, Gráfico de barras, Histograma&#10;&#10;El contenido generado por IA puede ser incorrecto.">
            <a:extLst>
              <a:ext uri="{FF2B5EF4-FFF2-40B4-BE49-F238E27FC236}">
                <a16:creationId xmlns:a16="http://schemas.microsoft.com/office/drawing/2014/main" id="{74D4FD89-A352-0ED6-1F8C-212FA26A8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4" y="1529834"/>
            <a:ext cx="7413843" cy="22873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Modelo</a:t>
            </a:r>
            <a:endParaRPr/>
          </a:p>
        </p:txBody>
      </p:sp>
      <p:sp>
        <p:nvSpPr>
          <p:cNvPr id="83" name="Google Shape;83;p4"/>
          <p:cNvSpPr txBox="1">
            <a:spLocks noGrp="1"/>
          </p:cNvSpPr>
          <p:nvPr>
            <p:ph type="body" idx="1"/>
          </p:nvPr>
        </p:nvSpPr>
        <p:spPr>
          <a:xfrm>
            <a:off x="952136" y="3904949"/>
            <a:ext cx="3116700" cy="933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" sz="1100" dirty="0"/>
              <a:t>El </a:t>
            </a:r>
            <a:r>
              <a:rPr lang="en" sz="1100" dirty="0" err="1"/>
              <a:t>gráfico</a:t>
            </a:r>
            <a:r>
              <a:rPr lang="en" sz="1100" dirty="0"/>
              <a:t> superior </a:t>
            </a:r>
            <a:r>
              <a:rPr lang="en" sz="1100" dirty="0" err="1"/>
              <a:t>muestra</a:t>
            </a:r>
            <a:r>
              <a:rPr lang="en" sz="1100" dirty="0"/>
              <a:t> la curva ROC del </a:t>
            </a:r>
            <a:r>
              <a:rPr lang="en" sz="1100" dirty="0" err="1"/>
              <a:t>modelo</a:t>
            </a:r>
            <a:r>
              <a:rPr lang="en" sz="1100" dirty="0"/>
              <a:t> </a:t>
            </a:r>
            <a:r>
              <a:rPr lang="en" sz="1100" dirty="0" err="1"/>
              <a:t>optimizado</a:t>
            </a:r>
            <a:r>
              <a:rPr lang="en" sz="1100" dirty="0"/>
              <a:t> </a:t>
            </a:r>
            <a:r>
              <a:rPr lang="en" sz="1100" dirty="0" err="1"/>
              <a:t>mediante</a:t>
            </a:r>
            <a:r>
              <a:rPr lang="en" sz="1100" dirty="0"/>
              <a:t> </a:t>
            </a:r>
            <a:r>
              <a:rPr lang="en" sz="1100" dirty="0" err="1"/>
              <a:t>búsqueda</a:t>
            </a:r>
            <a:r>
              <a:rPr lang="en" sz="1100" dirty="0"/>
              <a:t> de </a:t>
            </a:r>
            <a:r>
              <a:rPr lang="en" sz="1100" dirty="0" err="1"/>
              <a:t>hiperparámetros</a:t>
            </a:r>
            <a:r>
              <a:rPr lang="en" sz="1100" dirty="0"/>
              <a:t> y </a:t>
            </a:r>
            <a:r>
              <a:rPr lang="en" sz="1100" dirty="0" err="1"/>
              <a:t>validación</a:t>
            </a:r>
            <a:r>
              <a:rPr lang="en" sz="1100" dirty="0"/>
              <a:t> </a:t>
            </a:r>
            <a:r>
              <a:rPr lang="en" sz="1100" dirty="0" err="1"/>
              <a:t>cruzada</a:t>
            </a:r>
            <a:r>
              <a:rPr lang="en" sz="1100" dirty="0"/>
              <a:t>. El </a:t>
            </a:r>
            <a:r>
              <a:rPr lang="en" sz="1100" dirty="0" err="1"/>
              <a:t>análisis</a:t>
            </a:r>
            <a:r>
              <a:rPr lang="en" sz="1100" dirty="0"/>
              <a:t> </a:t>
            </a:r>
            <a:r>
              <a:rPr lang="en" sz="1100" dirty="0" err="1"/>
              <a:t>matemático</a:t>
            </a:r>
            <a:r>
              <a:rPr lang="en" sz="1100" dirty="0"/>
              <a:t> </a:t>
            </a:r>
            <a:r>
              <a:rPr lang="en" sz="1100" dirty="0" err="1"/>
              <a:t>arroja</a:t>
            </a:r>
            <a:r>
              <a:rPr lang="en" sz="1100" dirty="0"/>
              <a:t> un </a:t>
            </a:r>
            <a:r>
              <a:rPr lang="en" sz="1100" dirty="0" err="1"/>
              <a:t>indicador</a:t>
            </a:r>
            <a:r>
              <a:rPr lang="en" sz="1100" dirty="0"/>
              <a:t> del </a:t>
            </a:r>
            <a:r>
              <a:rPr lang="en" sz="1100" dirty="0" err="1"/>
              <a:t>área</a:t>
            </a:r>
            <a:r>
              <a:rPr lang="en" sz="1100" dirty="0"/>
              <a:t> bajo la curva, o valor AUC, de cero coma </a:t>
            </a:r>
            <a:r>
              <a:rPr lang="en" sz="1100" dirty="0" err="1"/>
              <a:t>noventa</a:t>
            </a:r>
            <a:r>
              <a:rPr lang="en" sz="1100" dirty="0"/>
              <a:t> y </a:t>
            </a:r>
            <a:r>
              <a:rPr lang="en" sz="1100" dirty="0" err="1"/>
              <a:t>siete</a:t>
            </a:r>
            <a:r>
              <a:rPr lang="en" sz="1100" dirty="0"/>
              <a:t> </a:t>
            </a:r>
            <a:r>
              <a:rPr lang="en" sz="1100" dirty="0" err="1"/>
              <a:t>sesenta</a:t>
            </a:r>
            <a:r>
              <a:rPr lang="en" sz="1100" dirty="0"/>
              <a:t> y uno </a:t>
            </a:r>
            <a:r>
              <a:rPr lang="en" sz="1100" dirty="0" err="1"/>
              <a:t>en</a:t>
            </a:r>
            <a:r>
              <a:rPr lang="en" sz="1100" dirty="0"/>
              <a:t> el </a:t>
            </a:r>
            <a:r>
              <a:rPr lang="en" sz="1100" dirty="0" err="1"/>
              <a:t>grupo</a:t>
            </a:r>
            <a:r>
              <a:rPr lang="en" sz="1100" dirty="0"/>
              <a:t> de test, </a:t>
            </a:r>
            <a:r>
              <a:rPr lang="en" sz="1100" dirty="0" err="1"/>
              <a:t>mejorando</a:t>
            </a:r>
            <a:r>
              <a:rPr lang="en" sz="1100" dirty="0"/>
              <a:t> el cero coma </a:t>
            </a:r>
            <a:r>
              <a:rPr lang="en" sz="1100" dirty="0" err="1"/>
              <a:t>noventa</a:t>
            </a:r>
            <a:r>
              <a:rPr lang="en" sz="1100" dirty="0"/>
              <a:t> y </a:t>
            </a:r>
            <a:r>
              <a:rPr lang="en" sz="1100" dirty="0" err="1"/>
              <a:t>siete</a:t>
            </a:r>
            <a:r>
              <a:rPr lang="en" sz="1100" dirty="0"/>
              <a:t> </a:t>
            </a:r>
            <a:r>
              <a:rPr lang="en" sz="1100" dirty="0" err="1"/>
              <a:t>veinticuatro</a:t>
            </a:r>
            <a:r>
              <a:rPr lang="en" sz="1100" dirty="0"/>
              <a:t> del </a:t>
            </a:r>
            <a:r>
              <a:rPr lang="en" sz="1100" dirty="0" err="1"/>
              <a:t>modelo</a:t>
            </a:r>
            <a:r>
              <a:rPr lang="en" sz="1100" dirty="0"/>
              <a:t> base. Este </a:t>
            </a:r>
            <a:r>
              <a:rPr lang="en" sz="1100" dirty="0" err="1"/>
              <a:t>resultado</a:t>
            </a:r>
            <a:r>
              <a:rPr lang="en" sz="1100" dirty="0"/>
              <a:t> </a:t>
            </a:r>
            <a:r>
              <a:rPr lang="en" sz="1100" dirty="0" err="1"/>
              <a:t>confirma</a:t>
            </a:r>
            <a:r>
              <a:rPr lang="en" sz="1100" dirty="0"/>
              <a:t> </a:t>
            </a:r>
            <a:r>
              <a:rPr lang="en" sz="1100" dirty="0" err="1"/>
              <a:t>una</a:t>
            </a:r>
            <a:r>
              <a:rPr lang="en" sz="1100" dirty="0"/>
              <a:t> </a:t>
            </a:r>
            <a:r>
              <a:rPr lang="en" sz="1100" dirty="0" err="1"/>
              <a:t>capacidad</a:t>
            </a:r>
            <a:r>
              <a:rPr lang="en" sz="1100" dirty="0"/>
              <a:t> de </a:t>
            </a:r>
            <a:r>
              <a:rPr lang="en" sz="1100" dirty="0" err="1"/>
              <a:t>clasificación</a:t>
            </a:r>
            <a:r>
              <a:rPr lang="en" sz="1100" dirty="0"/>
              <a:t> </a:t>
            </a:r>
            <a:r>
              <a:rPr lang="en" sz="1100" dirty="0" err="1"/>
              <a:t>casi</a:t>
            </a:r>
            <a:r>
              <a:rPr lang="en" sz="1100" dirty="0"/>
              <a:t> perfecta, </a:t>
            </a:r>
            <a:r>
              <a:rPr lang="en" sz="1100" dirty="0" err="1"/>
              <a:t>fiable</a:t>
            </a:r>
            <a:r>
              <a:rPr lang="en" sz="1100" dirty="0"/>
              <a:t> para </a:t>
            </a:r>
            <a:r>
              <a:rPr lang="en" sz="1100" dirty="0" err="1"/>
              <a:t>negocio</a:t>
            </a:r>
            <a:r>
              <a:rPr lang="en" sz="1100" dirty="0"/>
              <a:t> y libre de </a:t>
            </a:r>
            <a:r>
              <a:rPr lang="en" sz="1100" dirty="0" err="1"/>
              <a:t>sobreentrenamiento</a:t>
            </a:r>
            <a:r>
              <a:rPr lang="en" sz="1100" dirty="0"/>
              <a:t>.</a:t>
            </a:r>
            <a:endParaRPr lang="es-ES" dirty="0"/>
          </a:p>
        </p:txBody>
      </p:sp>
      <p:sp>
        <p:nvSpPr>
          <p:cNvPr id="84" name="Google Shape;84;p4"/>
          <p:cNvSpPr txBox="1">
            <a:spLocks noGrp="1"/>
          </p:cNvSpPr>
          <p:nvPr>
            <p:ph type="body" idx="1"/>
          </p:nvPr>
        </p:nvSpPr>
        <p:spPr>
          <a:xfrm>
            <a:off x="921645" y="1101125"/>
            <a:ext cx="3116700" cy="294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450" b="1">
                <a:solidFill>
                  <a:schemeClr val="lt1"/>
                </a:solidFill>
              </a:rPr>
              <a:t>Curva ROC</a:t>
            </a:r>
            <a:endParaRPr sz="1450" b="1">
              <a:solidFill>
                <a:schemeClr val="lt1"/>
              </a:solidFill>
            </a:endParaRPr>
          </a:p>
        </p:txBody>
      </p:sp>
      <p:sp>
        <p:nvSpPr>
          <p:cNvPr id="85" name="Google Shape;85;p4"/>
          <p:cNvSpPr txBox="1">
            <a:spLocks noGrp="1"/>
          </p:cNvSpPr>
          <p:nvPr>
            <p:ph type="body" idx="1"/>
          </p:nvPr>
        </p:nvSpPr>
        <p:spPr>
          <a:xfrm>
            <a:off x="4791185" y="3904949"/>
            <a:ext cx="3116700" cy="933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" sz="1100" dirty="0"/>
              <a:t>La </a:t>
            </a:r>
            <a:r>
              <a:rPr lang="en" sz="1100" dirty="0" err="1"/>
              <a:t>recencia</a:t>
            </a:r>
            <a:r>
              <a:rPr lang="en" sz="1100" dirty="0"/>
              <a:t> </a:t>
            </a:r>
            <a:r>
              <a:rPr lang="en" sz="1100" dirty="0" err="1"/>
              <a:t>en</a:t>
            </a:r>
            <a:r>
              <a:rPr lang="en" sz="1100" dirty="0"/>
              <a:t> días es el factor </a:t>
            </a:r>
            <a:r>
              <a:rPr lang="en" sz="1100" dirty="0" err="1"/>
              <a:t>prioritario</a:t>
            </a:r>
            <a:r>
              <a:rPr lang="en" sz="1100" dirty="0"/>
              <a:t> con </a:t>
            </a:r>
            <a:r>
              <a:rPr lang="en" sz="1100" dirty="0" err="1"/>
              <a:t>un F</a:t>
            </a:r>
            <a:r>
              <a:rPr lang="en" sz="1100" dirty="0"/>
              <a:t>-Score de </a:t>
            </a:r>
            <a:r>
              <a:rPr lang="en" sz="1100" dirty="0" err="1"/>
              <a:t>seiscientos</a:t>
            </a:r>
            <a:r>
              <a:rPr lang="en" sz="1100" dirty="0"/>
              <a:t> </a:t>
            </a:r>
            <a:r>
              <a:rPr lang="en" sz="1100" dirty="0" err="1"/>
              <a:t>veintisiete</a:t>
            </a:r>
            <a:r>
              <a:rPr lang="en" sz="1100" dirty="0"/>
              <a:t>, </a:t>
            </a:r>
            <a:r>
              <a:rPr lang="en" sz="1100" dirty="0" err="1"/>
              <a:t>demostrando</a:t>
            </a:r>
            <a:r>
              <a:rPr lang="en" sz="1100" dirty="0"/>
              <a:t> </a:t>
            </a:r>
            <a:r>
              <a:rPr lang="en" sz="1100" dirty="0" err="1"/>
              <a:t>que</a:t>
            </a:r>
            <a:r>
              <a:rPr lang="en" sz="1100" dirty="0"/>
              <a:t> el </a:t>
            </a:r>
            <a:r>
              <a:rPr lang="en" sz="1100" dirty="0" err="1"/>
              <a:t>tiempo</a:t>
            </a:r>
            <a:r>
              <a:rPr lang="en" sz="1100" dirty="0"/>
              <a:t> de </a:t>
            </a:r>
            <a:r>
              <a:rPr lang="en" sz="1100" dirty="0" err="1"/>
              <a:t>inactividad</a:t>
            </a:r>
            <a:r>
              <a:rPr lang="en" sz="1100" dirty="0"/>
              <a:t> </a:t>
            </a:r>
            <a:r>
              <a:rPr lang="en" sz="1100" dirty="0" err="1"/>
              <a:t>gobierna</a:t>
            </a:r>
            <a:r>
              <a:rPr lang="en" sz="1100" dirty="0"/>
              <a:t> el </a:t>
            </a:r>
            <a:r>
              <a:rPr lang="en" sz="1100" dirty="0" err="1"/>
              <a:t>abandono</a:t>
            </a:r>
            <a:r>
              <a:rPr lang="en" sz="1100" dirty="0"/>
              <a:t> del </a:t>
            </a:r>
            <a:r>
              <a:rPr lang="en" sz="1100" dirty="0" err="1"/>
              <a:t>cliente</a:t>
            </a:r>
            <a:r>
              <a:rPr lang="en" sz="1100" dirty="0"/>
              <a:t>. Por </a:t>
            </a:r>
            <a:r>
              <a:rPr lang="en" sz="1100" dirty="0" err="1"/>
              <a:t>otro</a:t>
            </a:r>
            <a:r>
              <a:rPr lang="en" sz="1100" dirty="0"/>
              <a:t> </a:t>
            </a:r>
            <a:r>
              <a:rPr lang="en" sz="1100" dirty="0" err="1"/>
              <a:t>lado</a:t>
            </a:r>
            <a:r>
              <a:rPr lang="en" sz="1100" dirty="0"/>
              <a:t>, el ticket medio y </a:t>
            </a:r>
            <a:r>
              <a:rPr lang="en" sz="1100" dirty="0" err="1"/>
              <a:t>los</a:t>
            </a:r>
            <a:r>
              <a:rPr lang="en" sz="1100" dirty="0"/>
              <a:t> </a:t>
            </a:r>
            <a:r>
              <a:rPr lang="en" sz="1100" dirty="0" err="1"/>
              <a:t>ingresos</a:t>
            </a:r>
            <a:r>
              <a:rPr lang="en" sz="1100" dirty="0"/>
              <a:t> </a:t>
            </a:r>
            <a:r>
              <a:rPr lang="en" sz="1100" dirty="0" err="1"/>
              <a:t>totales</a:t>
            </a:r>
            <a:r>
              <a:rPr lang="en" sz="1100" dirty="0"/>
              <a:t> </a:t>
            </a:r>
            <a:r>
              <a:rPr lang="en" sz="1100" dirty="0" err="1"/>
              <a:t>actúan</a:t>
            </a:r>
            <a:r>
              <a:rPr lang="en" sz="1100" dirty="0"/>
              <a:t> </a:t>
            </a:r>
            <a:r>
              <a:rPr lang="en" sz="1100" dirty="0" err="1"/>
              <a:t>como</a:t>
            </a:r>
            <a:r>
              <a:rPr lang="en" sz="1100" dirty="0"/>
              <a:t> </a:t>
            </a:r>
            <a:r>
              <a:rPr lang="en" sz="1100" dirty="0" err="1"/>
              <a:t>predictores</a:t>
            </a:r>
            <a:r>
              <a:rPr lang="en" sz="1100" dirty="0"/>
              <a:t> </a:t>
            </a:r>
            <a:r>
              <a:rPr lang="en" sz="1100" dirty="0" err="1"/>
              <a:t>económicos</a:t>
            </a:r>
            <a:r>
              <a:rPr lang="en" sz="1100" dirty="0"/>
              <a:t> </a:t>
            </a:r>
            <a:r>
              <a:rPr lang="en" sz="1100" dirty="0" err="1"/>
              <a:t>masivos</a:t>
            </a:r>
            <a:r>
              <a:rPr lang="en" sz="1100" dirty="0"/>
              <a:t> para </a:t>
            </a:r>
            <a:r>
              <a:rPr lang="en" sz="1100" dirty="0" err="1"/>
              <a:t>aislar</a:t>
            </a:r>
            <a:r>
              <a:rPr lang="en" sz="1100" dirty="0"/>
              <a:t> </a:t>
            </a:r>
            <a:r>
              <a:rPr lang="en" sz="1100" dirty="0" err="1"/>
              <a:t>perfiles</a:t>
            </a:r>
            <a:r>
              <a:rPr lang="en" sz="1100" dirty="0"/>
              <a:t> de </a:t>
            </a:r>
            <a:r>
              <a:rPr lang="en" sz="1100" dirty="0" err="1"/>
              <a:t>carácter</a:t>
            </a:r>
            <a:r>
              <a:rPr lang="en" sz="1100" dirty="0"/>
              <a:t> </a:t>
            </a:r>
            <a:r>
              <a:rPr lang="en" sz="1100" dirty="0" err="1"/>
              <a:t>corporativo</a:t>
            </a:r>
            <a:r>
              <a:rPr lang="en" sz="1100" dirty="0"/>
              <a:t> con </a:t>
            </a:r>
            <a:r>
              <a:rPr lang="en" sz="1100" dirty="0" err="1"/>
              <a:t>alta</a:t>
            </a:r>
            <a:r>
              <a:rPr lang="en" sz="1100" dirty="0"/>
              <a:t> </a:t>
            </a:r>
            <a:r>
              <a:rPr lang="en" sz="1100" dirty="0" err="1"/>
              <a:t>recurrencia</a:t>
            </a:r>
            <a:r>
              <a:rPr lang="en" sz="1100" dirty="0"/>
              <a:t> de </a:t>
            </a:r>
            <a:r>
              <a:rPr lang="en" sz="1100" dirty="0" err="1"/>
              <a:t>compra</a:t>
            </a:r>
            <a:r>
              <a:rPr lang="en" sz="1100" dirty="0"/>
              <a:t>. </a:t>
            </a:r>
            <a:r>
              <a:rPr lang="en" sz="1100" dirty="0" err="1"/>
              <a:t>Finalmente</a:t>
            </a:r>
            <a:r>
              <a:rPr lang="en" sz="1100" dirty="0"/>
              <a:t>, la </a:t>
            </a:r>
            <a:r>
              <a:rPr lang="en" sz="1100" dirty="0" err="1"/>
              <a:t>localización</a:t>
            </a:r>
            <a:r>
              <a:rPr lang="en" sz="1100" dirty="0"/>
              <a:t> </a:t>
            </a:r>
            <a:r>
              <a:rPr lang="en" sz="1100" dirty="0" err="1"/>
              <a:t>geográfica</a:t>
            </a:r>
            <a:r>
              <a:rPr lang="en" sz="1100" dirty="0"/>
              <a:t> </a:t>
            </a:r>
            <a:r>
              <a:rPr lang="en" sz="1100" dirty="0" err="1"/>
              <a:t>presenta</a:t>
            </a:r>
            <a:r>
              <a:rPr lang="en" sz="1100" dirty="0"/>
              <a:t> un </a:t>
            </a:r>
            <a:r>
              <a:rPr lang="en" sz="1100" dirty="0" err="1"/>
              <a:t>impacto</a:t>
            </a:r>
            <a:r>
              <a:rPr lang="en" sz="1100" dirty="0"/>
              <a:t> marginal </a:t>
            </a:r>
            <a:r>
              <a:rPr lang="en" sz="1100" dirty="0" err="1"/>
              <a:t>en</a:t>
            </a:r>
            <a:r>
              <a:rPr lang="en" sz="1100" dirty="0"/>
              <a:t> las </a:t>
            </a:r>
            <a:r>
              <a:rPr lang="en" sz="1100" dirty="0" err="1"/>
              <a:t>decisiones</a:t>
            </a:r>
            <a:r>
              <a:rPr lang="en" sz="1100" dirty="0"/>
              <a:t> del </a:t>
            </a:r>
            <a:r>
              <a:rPr lang="en" sz="1100" dirty="0" err="1"/>
              <a:t>sistema</a:t>
            </a:r>
            <a:r>
              <a:rPr lang="en" sz="1100" dirty="0"/>
              <a:t>.</a:t>
            </a:r>
            <a:endParaRPr lang="es-ES" dirty="0"/>
          </a:p>
        </p:txBody>
      </p:sp>
      <p:sp>
        <p:nvSpPr>
          <p:cNvPr id="86" name="Google Shape;86;p4"/>
          <p:cNvSpPr txBox="1">
            <a:spLocks noGrp="1"/>
          </p:cNvSpPr>
          <p:nvPr>
            <p:ph type="body" idx="1"/>
          </p:nvPr>
        </p:nvSpPr>
        <p:spPr>
          <a:xfrm>
            <a:off x="4760694" y="1101125"/>
            <a:ext cx="3116700" cy="294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lang="en" sz="1450" b="1">
                <a:solidFill>
                  <a:schemeClr val="lt1"/>
                </a:solidFill>
              </a:rPr>
              <a:t>Variables más importantes</a:t>
            </a:r>
            <a:endParaRPr sz="1450" b="1">
              <a:solidFill>
                <a:schemeClr val="lt1"/>
              </a:solidFill>
            </a:endParaRPr>
          </a:p>
        </p:txBody>
      </p:sp>
      <p:pic>
        <p:nvPicPr>
          <p:cNvPr id="2" name="Imagen 1" descr="Gráfico, Gráfico de líneas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93BC54A1-8154-A0AC-61AB-CFFFA6B98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445" y="1476047"/>
            <a:ext cx="2998940" cy="2277519"/>
          </a:xfrm>
          <a:prstGeom prst="rect">
            <a:avLst/>
          </a:prstGeom>
        </p:spPr>
      </p:pic>
      <p:pic>
        <p:nvPicPr>
          <p:cNvPr id="4" name="Imagen 3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7AECC811-F0C5-31E7-EF59-94315DBE7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570" y="1490727"/>
            <a:ext cx="3571223" cy="22481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Conclusiones y Próximos pasos</a:t>
            </a:r>
            <a:endParaRPr/>
          </a:p>
        </p:txBody>
      </p:sp>
      <p:sp>
        <p:nvSpPr>
          <p:cNvPr id="94" name="Google Shape;94;p5"/>
          <p:cNvSpPr txBox="1">
            <a:spLocks noGrp="1"/>
          </p:cNvSpPr>
          <p:nvPr>
            <p:ph type="body" idx="1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indent="0">
              <a:lnSpc>
                <a:spcPct val="114999"/>
              </a:lnSpc>
              <a:spcAft>
                <a:spcPts val="1200"/>
              </a:spcAft>
              <a:buNone/>
            </a:pPr>
            <a:r>
              <a:rPr lang="en" sz="1300" dirty="0" err="1">
                <a:solidFill>
                  <a:srgbClr val="002060"/>
                </a:solidFill>
              </a:rPr>
              <a:t>Limitación</a:t>
            </a:r>
            <a:r>
              <a:rPr lang="en" sz="1300" dirty="0">
                <a:solidFill>
                  <a:srgbClr val="002060"/>
                </a:solidFill>
              </a:rPr>
              <a:t> clave del </a:t>
            </a:r>
            <a:r>
              <a:rPr lang="en" sz="1300" dirty="0" err="1">
                <a:solidFill>
                  <a:srgbClr val="002060"/>
                </a:solidFill>
              </a:rPr>
              <a:t>modelo</a:t>
            </a:r>
            <a:r>
              <a:rPr lang="en" sz="1300" dirty="0">
                <a:solidFill>
                  <a:srgbClr val="002060"/>
                </a:solidFill>
              </a:rPr>
              <a:t> e </a:t>
            </a:r>
            <a:r>
              <a:rPr lang="en" sz="1300" dirty="0" err="1">
                <a:solidFill>
                  <a:srgbClr val="002060"/>
                </a:solidFill>
              </a:rPr>
              <a:t>hipótesis</a:t>
            </a:r>
            <a:r>
              <a:rPr lang="en" sz="1300" dirty="0">
                <a:solidFill>
                  <a:srgbClr val="002060"/>
                </a:solidFill>
              </a:rPr>
              <a:t> de </a:t>
            </a:r>
            <a:r>
              <a:rPr lang="en" sz="1300" dirty="0" err="1">
                <a:solidFill>
                  <a:srgbClr val="002060"/>
                </a:solidFill>
              </a:rPr>
              <a:t>negocio</a:t>
            </a:r>
            <a:r>
              <a:rPr lang="en" sz="1300" dirty="0">
                <a:solidFill>
                  <a:srgbClr val="002060"/>
                </a:solidFill>
              </a:rPr>
              <a:t>: El </a:t>
            </a:r>
            <a:r>
              <a:rPr lang="en" sz="1300" dirty="0" err="1">
                <a:solidFill>
                  <a:srgbClr val="002060"/>
                </a:solidFill>
              </a:rPr>
              <a:t>modelo</a:t>
            </a:r>
            <a:r>
              <a:rPr lang="en" sz="1300" dirty="0">
                <a:solidFill>
                  <a:srgbClr val="002060"/>
                </a:solidFill>
              </a:rPr>
              <a:t> actual </a:t>
            </a:r>
            <a:r>
              <a:rPr lang="en" sz="1300" dirty="0" err="1">
                <a:solidFill>
                  <a:srgbClr val="002060"/>
                </a:solidFill>
              </a:rPr>
              <a:t>predice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en</a:t>
            </a:r>
            <a:r>
              <a:rPr lang="en" sz="1300" dirty="0">
                <a:solidFill>
                  <a:srgbClr val="002060"/>
                </a:solidFill>
              </a:rPr>
              <a:t> base al histórico </a:t>
            </a:r>
            <a:r>
              <a:rPr lang="en" sz="1300" dirty="0" err="1">
                <a:solidFill>
                  <a:srgbClr val="002060"/>
                </a:solidFill>
              </a:rPr>
              <a:t>transaccional</a:t>
            </a:r>
            <a:r>
              <a:rPr lang="en" sz="1300" dirty="0">
                <a:solidFill>
                  <a:srgbClr val="002060"/>
                </a:solidFill>
              </a:rPr>
              <a:t>, </a:t>
            </a:r>
            <a:r>
              <a:rPr lang="en" sz="1300" dirty="0" err="1">
                <a:solidFill>
                  <a:srgbClr val="002060"/>
                </a:solidFill>
              </a:rPr>
              <a:t>pero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sufre</a:t>
            </a:r>
            <a:r>
              <a:rPr lang="en" sz="1300" dirty="0">
                <a:solidFill>
                  <a:srgbClr val="002060"/>
                </a:solidFill>
              </a:rPr>
              <a:t> ante </a:t>
            </a:r>
            <a:r>
              <a:rPr lang="en" sz="1300" dirty="0" err="1">
                <a:solidFill>
                  <a:srgbClr val="002060"/>
                </a:solidFill>
              </a:rPr>
              <a:t>factores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externos</a:t>
            </a:r>
            <a:r>
              <a:rPr lang="en" sz="1300" dirty="0">
                <a:solidFill>
                  <a:srgbClr val="002060"/>
                </a:solidFill>
              </a:rPr>
              <a:t> no </a:t>
            </a:r>
            <a:r>
              <a:rPr lang="en" sz="1300" dirty="0" err="1">
                <a:solidFill>
                  <a:srgbClr val="002060"/>
                </a:solidFill>
              </a:rPr>
              <a:t>tabulados</a:t>
            </a:r>
            <a:r>
              <a:rPr lang="en" sz="1300" dirty="0">
                <a:solidFill>
                  <a:srgbClr val="002060"/>
                </a:solidFill>
              </a:rPr>
              <a:t> (</a:t>
            </a:r>
            <a:r>
              <a:rPr lang="en" sz="1300" dirty="0" err="1">
                <a:solidFill>
                  <a:srgbClr val="002060"/>
                </a:solidFill>
              </a:rPr>
              <a:t>trato</a:t>
            </a:r>
            <a:r>
              <a:rPr lang="en" sz="1300" dirty="0">
                <a:solidFill>
                  <a:srgbClr val="002060"/>
                </a:solidFill>
              </a:rPr>
              <a:t> al </a:t>
            </a:r>
            <a:r>
              <a:rPr lang="en" sz="1300" dirty="0" err="1">
                <a:solidFill>
                  <a:srgbClr val="002060"/>
                </a:solidFill>
              </a:rPr>
              <a:t>cliente</a:t>
            </a:r>
            <a:r>
              <a:rPr lang="en" sz="1300" dirty="0">
                <a:solidFill>
                  <a:srgbClr val="002060"/>
                </a:solidFill>
              </a:rPr>
              <a:t>, </a:t>
            </a:r>
            <a:r>
              <a:rPr lang="en" sz="1300" dirty="0" err="1">
                <a:solidFill>
                  <a:srgbClr val="002060"/>
                </a:solidFill>
              </a:rPr>
              <a:t>competencia</a:t>
            </a:r>
            <a:r>
              <a:rPr lang="en" sz="1300" dirty="0">
                <a:solidFill>
                  <a:srgbClr val="002060"/>
                </a:solidFill>
              </a:rPr>
              <a:t> de </a:t>
            </a:r>
            <a:r>
              <a:rPr lang="en" sz="1300" dirty="0" err="1">
                <a:solidFill>
                  <a:srgbClr val="002060"/>
                </a:solidFill>
              </a:rPr>
              <a:t>precios</a:t>
            </a:r>
            <a:r>
              <a:rPr lang="en" sz="1300" dirty="0">
                <a:solidFill>
                  <a:srgbClr val="002060"/>
                </a:solidFill>
              </a:rPr>
              <a:t>, </a:t>
            </a:r>
            <a:r>
              <a:rPr lang="en" sz="1300" dirty="0" err="1">
                <a:solidFill>
                  <a:srgbClr val="002060"/>
                </a:solidFill>
              </a:rPr>
              <a:t>calidad</a:t>
            </a:r>
            <a:r>
              <a:rPr lang="en" sz="1300" dirty="0">
                <a:solidFill>
                  <a:srgbClr val="002060"/>
                </a:solidFill>
              </a:rPr>
              <a:t> del </a:t>
            </a:r>
            <a:r>
              <a:rPr lang="en" sz="1300" dirty="0" err="1">
                <a:solidFill>
                  <a:srgbClr val="002060"/>
                </a:solidFill>
              </a:rPr>
              <a:t>envío</a:t>
            </a:r>
            <a:r>
              <a:rPr lang="en" sz="1300" dirty="0">
                <a:solidFill>
                  <a:srgbClr val="002060"/>
                </a:solidFill>
              </a:rPr>
              <a:t>). Para </a:t>
            </a:r>
            <a:r>
              <a:rPr lang="en" sz="1300" dirty="0" err="1">
                <a:solidFill>
                  <a:srgbClr val="002060"/>
                </a:solidFill>
              </a:rPr>
              <a:t>mitigar</a:t>
            </a:r>
            <a:r>
              <a:rPr lang="en" sz="1300" dirty="0">
                <a:solidFill>
                  <a:srgbClr val="002060"/>
                </a:solidFill>
              </a:rPr>
              <a:t> el </a:t>
            </a:r>
            <a:r>
              <a:rPr lang="en" sz="1300" dirty="0" err="1">
                <a:solidFill>
                  <a:srgbClr val="002060"/>
                </a:solidFill>
              </a:rPr>
              <a:t>riesgo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financiero</a:t>
            </a:r>
            <a:r>
              <a:rPr lang="en" sz="1300" dirty="0">
                <a:solidFill>
                  <a:srgbClr val="002060"/>
                </a:solidFill>
              </a:rPr>
              <a:t> de </a:t>
            </a:r>
            <a:r>
              <a:rPr lang="en" sz="1300" dirty="0" err="1">
                <a:solidFill>
                  <a:srgbClr val="002060"/>
                </a:solidFill>
              </a:rPr>
              <a:t>almacenar</a:t>
            </a:r>
            <a:r>
              <a:rPr lang="en" sz="1300" dirty="0">
                <a:solidFill>
                  <a:srgbClr val="002060"/>
                </a:solidFill>
              </a:rPr>
              <a:t> stock </a:t>
            </a:r>
            <a:r>
              <a:rPr lang="en" sz="1300" dirty="0" err="1">
                <a:solidFill>
                  <a:srgbClr val="002060"/>
                </a:solidFill>
              </a:rPr>
              <a:t>basándonos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en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predicciones</a:t>
            </a:r>
            <a:r>
              <a:rPr lang="en" sz="1300" dirty="0">
                <a:solidFill>
                  <a:srgbClr val="002060"/>
                </a:solidFill>
              </a:rPr>
              <a:t> falsas (</a:t>
            </a:r>
            <a:r>
              <a:rPr lang="en" sz="1300" dirty="0" err="1">
                <a:solidFill>
                  <a:srgbClr val="002060"/>
                </a:solidFill>
              </a:rPr>
              <a:t>Falsos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Positivos</a:t>
            </a:r>
            <a:r>
              <a:rPr lang="en" sz="1300" dirty="0">
                <a:solidFill>
                  <a:srgbClr val="002060"/>
                </a:solidFill>
              </a:rPr>
              <a:t>) o </a:t>
            </a:r>
            <a:r>
              <a:rPr lang="en" sz="1300" dirty="0" err="1">
                <a:solidFill>
                  <a:srgbClr val="002060"/>
                </a:solidFill>
              </a:rPr>
              <a:t>perder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ventas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por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falta</a:t>
            </a:r>
            <a:r>
              <a:rPr lang="en" sz="1300" dirty="0">
                <a:solidFill>
                  <a:srgbClr val="002060"/>
                </a:solidFill>
              </a:rPr>
              <a:t> de stock (</a:t>
            </a:r>
            <a:r>
              <a:rPr lang="en" sz="1300" dirty="0" err="1">
                <a:solidFill>
                  <a:srgbClr val="002060"/>
                </a:solidFill>
              </a:rPr>
              <a:t>Falsos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Negativos</a:t>
            </a:r>
            <a:r>
              <a:rPr lang="en" sz="1300" dirty="0">
                <a:solidFill>
                  <a:srgbClr val="002060"/>
                </a:solidFill>
              </a:rPr>
              <a:t>), se propone no usar la </a:t>
            </a:r>
            <a:r>
              <a:rPr lang="en" sz="1300" dirty="0" err="1">
                <a:solidFill>
                  <a:srgbClr val="002060"/>
                </a:solidFill>
              </a:rPr>
              <a:t>predicción</a:t>
            </a:r>
            <a:r>
              <a:rPr lang="en" sz="1300" dirty="0">
                <a:solidFill>
                  <a:srgbClr val="002060"/>
                </a:solidFill>
              </a:rPr>
              <a:t> de forma </a:t>
            </a:r>
            <a:r>
              <a:rPr lang="en" sz="1300" dirty="0" err="1">
                <a:solidFill>
                  <a:srgbClr val="002060"/>
                </a:solidFill>
              </a:rPr>
              <a:t>binaria</a:t>
            </a:r>
            <a:r>
              <a:rPr lang="en" sz="1300" dirty="0">
                <a:solidFill>
                  <a:srgbClr val="002060"/>
                </a:solidFill>
              </a:rPr>
              <a:t>, </a:t>
            </a:r>
            <a:r>
              <a:rPr lang="en" sz="1300" dirty="0" err="1">
                <a:solidFill>
                  <a:srgbClr val="002060"/>
                </a:solidFill>
              </a:rPr>
              <a:t>sino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segmentar</a:t>
            </a:r>
            <a:r>
              <a:rPr lang="en" sz="1300" dirty="0">
                <a:solidFill>
                  <a:srgbClr val="002060"/>
                </a:solidFill>
              </a:rPr>
              <a:t> las </a:t>
            </a:r>
            <a:r>
              <a:rPr lang="en" sz="1300" dirty="0" err="1">
                <a:solidFill>
                  <a:srgbClr val="002060"/>
                </a:solidFill>
              </a:rPr>
              <a:t>acciones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comerciales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según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los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rangos</a:t>
            </a:r>
            <a:r>
              <a:rPr lang="en" sz="1300" dirty="0">
                <a:solidFill>
                  <a:srgbClr val="002060"/>
                </a:solidFill>
              </a:rPr>
              <a:t> de </a:t>
            </a:r>
            <a:r>
              <a:rPr lang="en" sz="1300" dirty="0" err="1">
                <a:solidFill>
                  <a:srgbClr val="002060"/>
                </a:solidFill>
              </a:rPr>
              <a:t>probabilidad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que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devuelve</a:t>
            </a:r>
            <a:r>
              <a:rPr lang="en" sz="1300" dirty="0">
                <a:solidFill>
                  <a:srgbClr val="002060"/>
                </a:solidFill>
              </a:rPr>
              <a:t> el </a:t>
            </a:r>
            <a:r>
              <a:rPr lang="en" sz="1300" dirty="0" err="1">
                <a:solidFill>
                  <a:srgbClr val="002060"/>
                </a:solidFill>
              </a:rPr>
              <a:t>algoritmo</a:t>
            </a:r>
            <a:r>
              <a:rPr lang="en" sz="1300" dirty="0">
                <a:solidFill>
                  <a:srgbClr val="002060"/>
                </a:solidFill>
              </a:rPr>
              <a:t>, </a:t>
            </a:r>
            <a:r>
              <a:rPr lang="en" sz="1300" dirty="0" err="1">
                <a:solidFill>
                  <a:srgbClr val="002060"/>
                </a:solidFill>
              </a:rPr>
              <a:t>manteniendo</a:t>
            </a:r>
            <a:r>
              <a:rPr lang="en" sz="1300" dirty="0">
                <a:solidFill>
                  <a:srgbClr val="002060"/>
                </a:solidFill>
              </a:rPr>
              <a:t> </a:t>
            </a:r>
            <a:r>
              <a:rPr lang="en" sz="1300" dirty="0" err="1">
                <a:solidFill>
                  <a:srgbClr val="002060"/>
                </a:solidFill>
              </a:rPr>
              <a:t>un stock</a:t>
            </a:r>
            <a:r>
              <a:rPr lang="en" sz="1300" dirty="0">
                <a:solidFill>
                  <a:srgbClr val="002060"/>
                </a:solidFill>
              </a:rPr>
              <a:t> de </a:t>
            </a:r>
            <a:r>
              <a:rPr lang="en" sz="1300" dirty="0" err="1">
                <a:solidFill>
                  <a:srgbClr val="002060"/>
                </a:solidFill>
              </a:rPr>
              <a:t>seguridad</a:t>
            </a:r>
            <a:r>
              <a:rPr lang="en" sz="1300" dirty="0">
                <a:solidFill>
                  <a:srgbClr val="002060"/>
                </a:solidFill>
              </a:rPr>
              <a:t> para la zona de </a:t>
            </a:r>
            <a:r>
              <a:rPr lang="en" sz="1300" dirty="0" err="1">
                <a:solidFill>
                  <a:srgbClr val="002060"/>
                </a:solidFill>
              </a:rPr>
              <a:t>incertidumbre</a:t>
            </a:r>
            <a:r>
              <a:rPr lang="en" sz="1300" dirty="0">
                <a:solidFill>
                  <a:srgbClr val="002060"/>
                </a:solidFill>
              </a:rPr>
              <a:t>.</a:t>
            </a:r>
            <a:endParaRPr lang="es-ES" dirty="0">
              <a:solidFill>
                <a:srgbClr val="002060"/>
              </a:solidFill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1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lnSpc>
                <a:spcPct val="114999"/>
              </a:lnSpc>
              <a:buNone/>
            </a:pPr>
            <a:r>
              <a:rPr lang="en" sz="1200" dirty="0">
                <a:solidFill>
                  <a:srgbClr val="002060"/>
                </a:solidFill>
              </a:rPr>
              <a:t>Como </a:t>
            </a:r>
            <a:r>
              <a:rPr lang="en" sz="1200" dirty="0" err="1">
                <a:solidFill>
                  <a:srgbClr val="002060"/>
                </a:solidFill>
              </a:rPr>
              <a:t>líneas</a:t>
            </a:r>
            <a:r>
              <a:rPr lang="en" sz="1200" dirty="0">
                <a:solidFill>
                  <a:srgbClr val="002060"/>
                </a:solidFill>
              </a:rPr>
              <a:t> de </a:t>
            </a:r>
            <a:r>
              <a:rPr lang="en" sz="1200" dirty="0" err="1">
                <a:solidFill>
                  <a:srgbClr val="002060"/>
                </a:solidFill>
              </a:rPr>
              <a:t>desarrollo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futuras</a:t>
            </a:r>
            <a:r>
              <a:rPr lang="en" sz="1200" dirty="0">
                <a:solidFill>
                  <a:srgbClr val="002060"/>
                </a:solidFill>
              </a:rPr>
              <a:t> se propone </a:t>
            </a:r>
            <a:r>
              <a:rPr lang="en" sz="1200" dirty="0" err="1">
                <a:solidFill>
                  <a:srgbClr val="002060"/>
                </a:solidFill>
              </a:rPr>
              <a:t>incorporar</a:t>
            </a:r>
            <a:r>
              <a:rPr lang="en" sz="1200" dirty="0">
                <a:solidFill>
                  <a:srgbClr val="002060"/>
                </a:solidFill>
              </a:rPr>
              <a:t> variables </a:t>
            </a:r>
            <a:r>
              <a:rPr lang="en" sz="1200" dirty="0" err="1">
                <a:solidFill>
                  <a:srgbClr val="002060"/>
                </a:solidFill>
              </a:rPr>
              <a:t>temporales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complejas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que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capturen</a:t>
            </a:r>
            <a:r>
              <a:rPr lang="en" sz="1200" dirty="0">
                <a:solidFill>
                  <a:srgbClr val="002060"/>
                </a:solidFill>
              </a:rPr>
              <a:t> de forma </a:t>
            </a:r>
            <a:r>
              <a:rPr lang="en" sz="1200" dirty="0" err="1">
                <a:solidFill>
                  <a:srgbClr val="002060"/>
                </a:solidFill>
              </a:rPr>
              <a:t>precisa</a:t>
            </a:r>
            <a:r>
              <a:rPr lang="en" sz="1200" dirty="0">
                <a:solidFill>
                  <a:srgbClr val="002060"/>
                </a:solidFill>
              </a:rPr>
              <a:t> la </a:t>
            </a:r>
            <a:r>
              <a:rPr lang="en" sz="1200" dirty="0" err="1">
                <a:solidFill>
                  <a:srgbClr val="002060"/>
                </a:solidFill>
              </a:rPr>
              <a:t>estacionalidad</a:t>
            </a:r>
            <a:r>
              <a:rPr lang="en" sz="1200" dirty="0">
                <a:solidFill>
                  <a:srgbClr val="002060"/>
                </a:solidFill>
              </a:rPr>
              <a:t> de la </a:t>
            </a:r>
            <a:r>
              <a:rPr lang="en" sz="1200" dirty="0" err="1">
                <a:solidFill>
                  <a:srgbClr val="002060"/>
                </a:solidFill>
              </a:rPr>
              <a:t>demanda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en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periodos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críticos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como</a:t>
            </a:r>
            <a:r>
              <a:rPr lang="en" sz="1200" dirty="0">
                <a:solidFill>
                  <a:srgbClr val="002060"/>
                </a:solidFill>
              </a:rPr>
              <a:t> las </a:t>
            </a:r>
            <a:r>
              <a:rPr lang="en" sz="1200" dirty="0" err="1">
                <a:solidFill>
                  <a:srgbClr val="002060"/>
                </a:solidFill>
              </a:rPr>
              <a:t>campañas</a:t>
            </a:r>
            <a:r>
              <a:rPr lang="en" sz="1200" dirty="0">
                <a:solidFill>
                  <a:srgbClr val="002060"/>
                </a:solidFill>
              </a:rPr>
              <a:t> de Navidad o el Black Friday. </a:t>
            </a:r>
            <a:r>
              <a:rPr lang="en" sz="1200" dirty="0" err="1">
                <a:solidFill>
                  <a:srgbClr val="002060"/>
                </a:solidFill>
              </a:rPr>
              <a:t>Asimismo</a:t>
            </a:r>
            <a:r>
              <a:rPr lang="en" sz="1200" dirty="0">
                <a:solidFill>
                  <a:srgbClr val="002060"/>
                </a:solidFill>
              </a:rPr>
              <a:t>, se </a:t>
            </a:r>
            <a:r>
              <a:rPr lang="en" sz="1200" dirty="0" err="1">
                <a:solidFill>
                  <a:srgbClr val="002060"/>
                </a:solidFill>
              </a:rPr>
              <a:t>plantea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orientar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los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próximos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análisis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hacia</a:t>
            </a:r>
            <a:r>
              <a:rPr lang="en" sz="1200" dirty="0">
                <a:solidFill>
                  <a:srgbClr val="002060"/>
                </a:solidFill>
              </a:rPr>
              <a:t> un </a:t>
            </a:r>
            <a:r>
              <a:rPr lang="en" sz="1200" dirty="0" err="1">
                <a:solidFill>
                  <a:srgbClr val="002060"/>
                </a:solidFill>
              </a:rPr>
              <a:t>modelado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por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familias</a:t>
            </a:r>
            <a:r>
              <a:rPr lang="en" sz="1200" dirty="0">
                <a:solidFill>
                  <a:srgbClr val="002060"/>
                </a:solidFill>
              </a:rPr>
              <a:t> de </a:t>
            </a:r>
            <a:r>
              <a:rPr lang="en" sz="1200" dirty="0" err="1">
                <a:solidFill>
                  <a:srgbClr val="002060"/>
                </a:solidFill>
              </a:rPr>
              <a:t>productos</a:t>
            </a:r>
            <a:r>
              <a:rPr lang="en" sz="1200" dirty="0">
                <a:solidFill>
                  <a:srgbClr val="002060"/>
                </a:solidFill>
              </a:rPr>
              <a:t>, </a:t>
            </a:r>
            <a:r>
              <a:rPr lang="en" sz="1200" dirty="0" err="1">
                <a:solidFill>
                  <a:srgbClr val="002060"/>
                </a:solidFill>
              </a:rPr>
              <a:t>permitiendo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segmentar</a:t>
            </a:r>
            <a:r>
              <a:rPr lang="en" sz="1200" dirty="0">
                <a:solidFill>
                  <a:srgbClr val="002060"/>
                </a:solidFill>
              </a:rPr>
              <a:t> la cesta de la </a:t>
            </a:r>
            <a:r>
              <a:rPr lang="en" sz="1200" dirty="0" err="1">
                <a:solidFill>
                  <a:srgbClr val="002060"/>
                </a:solidFill>
              </a:rPr>
              <a:t>compra</a:t>
            </a:r>
            <a:r>
              <a:rPr lang="en" sz="1200" dirty="0">
                <a:solidFill>
                  <a:srgbClr val="002060"/>
                </a:solidFill>
              </a:rPr>
              <a:t> para </a:t>
            </a:r>
            <a:r>
              <a:rPr lang="en" sz="1200" dirty="0" err="1">
                <a:solidFill>
                  <a:srgbClr val="002060"/>
                </a:solidFill>
              </a:rPr>
              <a:t>diseñar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ofertas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personalizadas</a:t>
            </a:r>
            <a:r>
              <a:rPr lang="en" sz="1200" dirty="0">
                <a:solidFill>
                  <a:srgbClr val="002060"/>
                </a:solidFill>
              </a:rPr>
              <a:t> de </a:t>
            </a:r>
            <a:r>
              <a:rPr lang="en" sz="1200" dirty="0" err="1">
                <a:solidFill>
                  <a:srgbClr val="002060"/>
                </a:solidFill>
              </a:rPr>
              <a:t>venta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cruzada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que</a:t>
            </a:r>
            <a:r>
              <a:rPr lang="en" sz="1200" dirty="0">
                <a:solidFill>
                  <a:srgbClr val="002060"/>
                </a:solidFill>
              </a:rPr>
              <a:t> </a:t>
            </a:r>
            <a:r>
              <a:rPr lang="en" sz="1200" dirty="0" err="1">
                <a:solidFill>
                  <a:srgbClr val="002060"/>
                </a:solidFill>
              </a:rPr>
              <a:t>aumenten</a:t>
            </a:r>
            <a:r>
              <a:rPr lang="en" sz="1200" dirty="0">
                <a:solidFill>
                  <a:srgbClr val="002060"/>
                </a:solidFill>
              </a:rPr>
              <a:t> el valor del </a:t>
            </a:r>
            <a:r>
              <a:rPr lang="en" sz="1200" dirty="0" err="1">
                <a:solidFill>
                  <a:srgbClr val="002060"/>
                </a:solidFill>
              </a:rPr>
              <a:t>ciclo</a:t>
            </a:r>
            <a:r>
              <a:rPr lang="en" sz="1200" dirty="0">
                <a:solidFill>
                  <a:srgbClr val="002060"/>
                </a:solidFill>
              </a:rPr>
              <a:t> de </a:t>
            </a:r>
            <a:r>
              <a:rPr lang="en" sz="1200" dirty="0" err="1">
                <a:solidFill>
                  <a:srgbClr val="002060"/>
                </a:solidFill>
              </a:rPr>
              <a:t>vida</a:t>
            </a:r>
            <a:r>
              <a:rPr lang="en" sz="1200" dirty="0">
                <a:solidFill>
                  <a:srgbClr val="002060"/>
                </a:solidFill>
              </a:rPr>
              <a:t> del </a:t>
            </a:r>
            <a:r>
              <a:rPr lang="en" sz="1200" dirty="0" err="1">
                <a:solidFill>
                  <a:srgbClr val="002060"/>
                </a:solidFill>
              </a:rPr>
              <a:t>cliente</a:t>
            </a:r>
            <a:r>
              <a:rPr lang="en" sz="1200" dirty="0">
                <a:solidFill>
                  <a:srgbClr val="002060"/>
                </a:solidFill>
              </a:rPr>
              <a:t>.</a:t>
            </a:r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(16:9)</PresentationFormat>
  <Slides>5</Slides>
  <Notes>5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Simple Light</vt:lpstr>
      <vt:lpstr>Modelo de Fidelización y Recompra</vt:lpstr>
      <vt:lpstr>Objetivos</vt:lpstr>
      <vt:lpstr>Insights</vt:lpstr>
      <vt:lpstr>Modelo</vt:lpstr>
      <vt:lpstr>Conclusiones y Próximos pasos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110</cp:revision>
  <dcterms:modified xsi:type="dcterms:W3CDTF">2026-06-07T20:58:22Z</dcterms:modified>
</cp:coreProperties>
</file>